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bookmarkIdSeed="2">
  <p:sldMasterIdLst>
    <p:sldMasterId id="2147483648" r:id="rId1"/>
  </p:sldMasterIdLst>
  <p:notesMasterIdLst>
    <p:notesMasterId r:id="rId17"/>
  </p:notesMasterIdLst>
  <p:sldIdLst>
    <p:sldId id="282" r:id="rId2"/>
    <p:sldId id="257" r:id="rId3"/>
    <p:sldId id="258" r:id="rId4"/>
    <p:sldId id="273" r:id="rId5"/>
    <p:sldId id="277" r:id="rId6"/>
    <p:sldId id="261" r:id="rId7"/>
    <p:sldId id="262" r:id="rId8"/>
    <p:sldId id="263" r:id="rId9"/>
    <p:sldId id="264" r:id="rId10"/>
    <p:sldId id="270" r:id="rId11"/>
    <p:sldId id="265" r:id="rId12"/>
    <p:sldId id="271" r:id="rId13"/>
    <p:sldId id="284" r:id="rId14"/>
    <p:sldId id="274" r:id="rId15"/>
    <p:sldId id="26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7190" autoAdjust="0"/>
  </p:normalViewPr>
  <p:slideViewPr>
    <p:cSldViewPr snapToGrid="0">
      <p:cViewPr varScale="1">
        <p:scale>
          <a:sx n="70" d="100"/>
          <a:sy n="70" d="100"/>
        </p:scale>
        <p:origin x="536" y="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0180683-EF02-4F03-BCA8-4BD5E9B3503D}" type="datetimeFigureOut">
              <a:rPr lang="en-IN" smtClean="0"/>
              <a:t>21-07-2026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6EBF2D-6B71-4201-B14F-13B5273BEF57}" type="slidenum">
              <a:rPr lang="en-IN" smtClean="0"/>
              <a:t>‹#›</a:t>
            </a:fld>
            <a:endParaRPr lang="en-IN"/>
          </a:p>
        </p:txBody>
      </p:sp>
    </p:spTree>
    <p:extLst>
      <p:ext uri="{BB962C8B-B14F-4D97-AF65-F5344CB8AC3E}">
        <p14:creationId xmlns:p14="http://schemas.microsoft.com/office/powerpoint/2010/main" val="33471663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216EBF2D-6B71-4201-B14F-13B5273BEF57}" type="slidenum">
              <a:rPr lang="en-IN" smtClean="0"/>
              <a:t>1</a:t>
            </a:fld>
            <a:endParaRPr lang="en-IN"/>
          </a:p>
        </p:txBody>
      </p:sp>
    </p:spTree>
    <p:extLst>
      <p:ext uri="{BB962C8B-B14F-4D97-AF65-F5344CB8AC3E}">
        <p14:creationId xmlns:p14="http://schemas.microsoft.com/office/powerpoint/2010/main" val="1145219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6EBF2D-6B71-4201-B14F-13B5273BEF57}" type="slidenum">
              <a:rPr lang="en-IN" smtClean="0"/>
              <a:t>6</a:t>
            </a:fld>
            <a:endParaRPr lang="en-IN"/>
          </a:p>
        </p:txBody>
      </p:sp>
    </p:spTree>
    <p:extLst>
      <p:ext uri="{BB962C8B-B14F-4D97-AF65-F5344CB8AC3E}">
        <p14:creationId xmlns:p14="http://schemas.microsoft.com/office/powerpoint/2010/main" val="2351524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6EBF2D-6B71-4201-B14F-13B5273BEF57}" type="slidenum">
              <a:rPr lang="en-IN" smtClean="0"/>
              <a:t>9</a:t>
            </a:fld>
            <a:endParaRPr lang="en-IN"/>
          </a:p>
        </p:txBody>
      </p:sp>
    </p:spTree>
    <p:extLst>
      <p:ext uri="{BB962C8B-B14F-4D97-AF65-F5344CB8AC3E}">
        <p14:creationId xmlns:p14="http://schemas.microsoft.com/office/powerpoint/2010/main" val="2702072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16EBF2D-6B71-4201-B14F-13B5273BEF57}" type="slidenum">
              <a:rPr lang="en-IN" smtClean="0"/>
              <a:t>10</a:t>
            </a:fld>
            <a:endParaRPr lang="en-IN"/>
          </a:p>
        </p:txBody>
      </p:sp>
    </p:spTree>
    <p:extLst>
      <p:ext uri="{BB962C8B-B14F-4D97-AF65-F5344CB8AC3E}">
        <p14:creationId xmlns:p14="http://schemas.microsoft.com/office/powerpoint/2010/main" val="3825522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66EAC-7E86-C8E5-9C8B-BA228598E1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812E6BB-E4EA-EEFE-D550-2F3326B54B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DD6D2B-B324-981B-BDBD-8DB6A74A8FE6}"/>
              </a:ext>
            </a:extLst>
          </p:cNvPr>
          <p:cNvSpPr>
            <a:spLocks noGrp="1"/>
          </p:cNvSpPr>
          <p:nvPr>
            <p:ph type="dt" sz="half" idx="10"/>
          </p:nvPr>
        </p:nvSpPr>
        <p:spPr/>
        <p:txBody>
          <a:bodyPr/>
          <a:lstStyle/>
          <a:p>
            <a:fld id="{C2E4B60F-FFED-4B1A-A6AB-B06F0E6EDE3B}" type="datetime1">
              <a:rPr lang="en-US" smtClean="0"/>
              <a:t>7/21/2026</a:t>
            </a:fld>
            <a:endParaRPr lang="en-IN"/>
          </a:p>
        </p:txBody>
      </p:sp>
      <p:sp>
        <p:nvSpPr>
          <p:cNvPr id="5" name="Footer Placeholder 4">
            <a:extLst>
              <a:ext uri="{FF2B5EF4-FFF2-40B4-BE49-F238E27FC236}">
                <a16:creationId xmlns:a16="http://schemas.microsoft.com/office/drawing/2014/main" id="{D8C3DE4A-A79D-BDCA-C718-C23F90A087DE}"/>
              </a:ext>
            </a:extLst>
          </p:cNvPr>
          <p:cNvSpPr>
            <a:spLocks noGrp="1"/>
          </p:cNvSpPr>
          <p:nvPr>
            <p:ph type="ftr" sz="quarter" idx="11"/>
          </p:nvPr>
        </p:nvSpPr>
        <p:spPr/>
        <p:txBody>
          <a:bodyPr/>
          <a:lstStyle/>
          <a:p>
            <a:r>
              <a:rPr lang="en-US"/>
              <a:t>EduSphere:  AI-Powered Student Lifecycle Management Ecosystem</a:t>
            </a:r>
            <a:endParaRPr lang="en-IN"/>
          </a:p>
        </p:txBody>
      </p:sp>
      <p:sp>
        <p:nvSpPr>
          <p:cNvPr id="6" name="Slide Number Placeholder 5">
            <a:extLst>
              <a:ext uri="{FF2B5EF4-FFF2-40B4-BE49-F238E27FC236}">
                <a16:creationId xmlns:a16="http://schemas.microsoft.com/office/drawing/2014/main" id="{9A71B911-88CC-9464-C5A9-B789073C3F30}"/>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3441472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60F03-0B67-B204-9CDB-CFD26E0EF2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49B032D-14D7-35EC-673A-22CFBC9F06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7BC202-A9F5-92C1-F151-50242B67E8E9}"/>
              </a:ext>
            </a:extLst>
          </p:cNvPr>
          <p:cNvSpPr>
            <a:spLocks noGrp="1"/>
          </p:cNvSpPr>
          <p:nvPr>
            <p:ph type="dt" sz="half" idx="10"/>
          </p:nvPr>
        </p:nvSpPr>
        <p:spPr/>
        <p:txBody>
          <a:bodyPr/>
          <a:lstStyle/>
          <a:p>
            <a:fld id="{27EF0462-6A89-4812-96F9-A37E56BCF603}" type="datetime1">
              <a:rPr lang="en-US" smtClean="0"/>
              <a:t>7/21/2026</a:t>
            </a:fld>
            <a:endParaRPr lang="en-IN"/>
          </a:p>
        </p:txBody>
      </p:sp>
      <p:sp>
        <p:nvSpPr>
          <p:cNvPr id="5" name="Footer Placeholder 4">
            <a:extLst>
              <a:ext uri="{FF2B5EF4-FFF2-40B4-BE49-F238E27FC236}">
                <a16:creationId xmlns:a16="http://schemas.microsoft.com/office/drawing/2014/main" id="{16218D76-F838-92CA-23B3-DE08D9FC0D10}"/>
              </a:ext>
            </a:extLst>
          </p:cNvPr>
          <p:cNvSpPr>
            <a:spLocks noGrp="1"/>
          </p:cNvSpPr>
          <p:nvPr>
            <p:ph type="ftr" sz="quarter" idx="11"/>
          </p:nvPr>
        </p:nvSpPr>
        <p:spPr/>
        <p:txBody>
          <a:bodyPr/>
          <a:lstStyle/>
          <a:p>
            <a:r>
              <a:rPr lang="en-US"/>
              <a:t>EduSphere:  AI-Powered Student Lifecycle Management Ecosystem</a:t>
            </a:r>
            <a:endParaRPr lang="en-IN"/>
          </a:p>
        </p:txBody>
      </p:sp>
      <p:sp>
        <p:nvSpPr>
          <p:cNvPr id="6" name="Slide Number Placeholder 5">
            <a:extLst>
              <a:ext uri="{FF2B5EF4-FFF2-40B4-BE49-F238E27FC236}">
                <a16:creationId xmlns:a16="http://schemas.microsoft.com/office/drawing/2014/main" id="{146DADC1-5AFB-A0CA-22CB-EA40A96B2C4C}"/>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205172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9455E-DB92-28EC-6D4F-1B841BE898B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ED85462-601F-2E96-3224-F21FD9F9B1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E5E12C-9F73-AC02-0CBA-EB58703096F4}"/>
              </a:ext>
            </a:extLst>
          </p:cNvPr>
          <p:cNvSpPr>
            <a:spLocks noGrp="1"/>
          </p:cNvSpPr>
          <p:nvPr>
            <p:ph type="dt" sz="half" idx="10"/>
          </p:nvPr>
        </p:nvSpPr>
        <p:spPr/>
        <p:txBody>
          <a:bodyPr/>
          <a:lstStyle/>
          <a:p>
            <a:fld id="{5D3C9AED-BC08-4E3F-A812-71BB2C9DAA42}" type="datetime1">
              <a:rPr lang="en-US" smtClean="0"/>
              <a:t>7/21/2026</a:t>
            </a:fld>
            <a:endParaRPr lang="en-IN"/>
          </a:p>
        </p:txBody>
      </p:sp>
      <p:sp>
        <p:nvSpPr>
          <p:cNvPr id="5" name="Footer Placeholder 4">
            <a:extLst>
              <a:ext uri="{FF2B5EF4-FFF2-40B4-BE49-F238E27FC236}">
                <a16:creationId xmlns:a16="http://schemas.microsoft.com/office/drawing/2014/main" id="{4B53F7A3-5F2C-EEF1-D2BB-46445B32048F}"/>
              </a:ext>
            </a:extLst>
          </p:cNvPr>
          <p:cNvSpPr>
            <a:spLocks noGrp="1"/>
          </p:cNvSpPr>
          <p:nvPr>
            <p:ph type="ftr" sz="quarter" idx="11"/>
          </p:nvPr>
        </p:nvSpPr>
        <p:spPr/>
        <p:txBody>
          <a:bodyPr/>
          <a:lstStyle/>
          <a:p>
            <a:r>
              <a:rPr lang="en-US"/>
              <a:t>EduSphere:  AI-Powered Student Lifecycle Management Ecosystem</a:t>
            </a:r>
            <a:endParaRPr lang="en-IN"/>
          </a:p>
        </p:txBody>
      </p:sp>
      <p:sp>
        <p:nvSpPr>
          <p:cNvPr id="6" name="Slide Number Placeholder 5">
            <a:extLst>
              <a:ext uri="{FF2B5EF4-FFF2-40B4-BE49-F238E27FC236}">
                <a16:creationId xmlns:a16="http://schemas.microsoft.com/office/drawing/2014/main" id="{03358ACB-2148-7F01-E3CE-A2406AA560C7}"/>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2440476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04D71-7D68-4990-5CDB-941D8DAA270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9C45C43-C512-8088-63A5-3B99998B78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8BCAFA4-A34F-8F81-21FD-92FBC0D641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2CCB033-3E57-165E-CF08-8A9C4E59CA18}"/>
              </a:ext>
            </a:extLst>
          </p:cNvPr>
          <p:cNvSpPr>
            <a:spLocks noGrp="1"/>
          </p:cNvSpPr>
          <p:nvPr>
            <p:ph type="dt" sz="half" idx="10"/>
          </p:nvPr>
        </p:nvSpPr>
        <p:spPr/>
        <p:txBody>
          <a:bodyPr/>
          <a:lstStyle/>
          <a:p>
            <a:fld id="{A88B7565-8C42-426B-B0D8-42D22A08EBD5}" type="datetime1">
              <a:rPr lang="en-US" smtClean="0"/>
              <a:t>7/21/2026</a:t>
            </a:fld>
            <a:endParaRPr lang="en-IN"/>
          </a:p>
        </p:txBody>
      </p:sp>
      <p:sp>
        <p:nvSpPr>
          <p:cNvPr id="6" name="Footer Placeholder 5">
            <a:extLst>
              <a:ext uri="{FF2B5EF4-FFF2-40B4-BE49-F238E27FC236}">
                <a16:creationId xmlns:a16="http://schemas.microsoft.com/office/drawing/2014/main" id="{37E58BCF-86D6-CA9B-853D-C615AF87578B}"/>
              </a:ext>
            </a:extLst>
          </p:cNvPr>
          <p:cNvSpPr>
            <a:spLocks noGrp="1"/>
          </p:cNvSpPr>
          <p:nvPr>
            <p:ph type="ftr" sz="quarter" idx="11"/>
          </p:nvPr>
        </p:nvSpPr>
        <p:spPr/>
        <p:txBody>
          <a:bodyPr/>
          <a:lstStyle/>
          <a:p>
            <a:r>
              <a:rPr lang="en-US"/>
              <a:t>EduSphere:  AI-Powered Student Lifecycle Management Ecosystem</a:t>
            </a:r>
            <a:endParaRPr lang="en-IN"/>
          </a:p>
        </p:txBody>
      </p:sp>
      <p:sp>
        <p:nvSpPr>
          <p:cNvPr id="7" name="Slide Number Placeholder 6">
            <a:extLst>
              <a:ext uri="{FF2B5EF4-FFF2-40B4-BE49-F238E27FC236}">
                <a16:creationId xmlns:a16="http://schemas.microsoft.com/office/drawing/2014/main" id="{39186B2E-6FF4-41F1-8928-FB50A2E2BE62}"/>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1013842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1C87D-1EB9-5D94-503E-17704D6CBC1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B41595-0C7C-EC24-1FE2-F42A9AECDF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14EDA9-85E0-573C-BF31-59D468C9E86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20D38F2-E3DD-4560-5FAA-9D593673E03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3D40A5-25E7-4C8A-5676-D65BDB0C50C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0C313F7-6810-B6A5-B7C9-DE1A4E363254}"/>
              </a:ext>
            </a:extLst>
          </p:cNvPr>
          <p:cNvSpPr>
            <a:spLocks noGrp="1"/>
          </p:cNvSpPr>
          <p:nvPr>
            <p:ph type="dt" sz="half" idx="10"/>
          </p:nvPr>
        </p:nvSpPr>
        <p:spPr/>
        <p:txBody>
          <a:bodyPr/>
          <a:lstStyle/>
          <a:p>
            <a:fld id="{F052AD53-5417-478A-B03D-82CF7FC488E0}" type="datetime1">
              <a:rPr lang="en-US" smtClean="0"/>
              <a:t>7/21/2026</a:t>
            </a:fld>
            <a:endParaRPr lang="en-IN"/>
          </a:p>
        </p:txBody>
      </p:sp>
      <p:sp>
        <p:nvSpPr>
          <p:cNvPr id="8" name="Footer Placeholder 7">
            <a:extLst>
              <a:ext uri="{FF2B5EF4-FFF2-40B4-BE49-F238E27FC236}">
                <a16:creationId xmlns:a16="http://schemas.microsoft.com/office/drawing/2014/main" id="{D172659F-7BA6-A4AD-FE77-D4834FF4F773}"/>
              </a:ext>
            </a:extLst>
          </p:cNvPr>
          <p:cNvSpPr>
            <a:spLocks noGrp="1"/>
          </p:cNvSpPr>
          <p:nvPr>
            <p:ph type="ftr" sz="quarter" idx="11"/>
          </p:nvPr>
        </p:nvSpPr>
        <p:spPr/>
        <p:txBody>
          <a:bodyPr/>
          <a:lstStyle/>
          <a:p>
            <a:r>
              <a:rPr lang="en-US"/>
              <a:t>EduSphere:  AI-Powered Student Lifecycle Management Ecosystem</a:t>
            </a:r>
            <a:endParaRPr lang="en-IN"/>
          </a:p>
        </p:txBody>
      </p:sp>
      <p:sp>
        <p:nvSpPr>
          <p:cNvPr id="9" name="Slide Number Placeholder 8">
            <a:extLst>
              <a:ext uri="{FF2B5EF4-FFF2-40B4-BE49-F238E27FC236}">
                <a16:creationId xmlns:a16="http://schemas.microsoft.com/office/drawing/2014/main" id="{A5692AE7-865E-9076-63DD-4A1F27418EC9}"/>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3722389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8A3B7-FCDB-71E4-522F-92923E6508F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258DC58-AF6D-545D-A920-83B6F69642A5}"/>
              </a:ext>
            </a:extLst>
          </p:cNvPr>
          <p:cNvSpPr>
            <a:spLocks noGrp="1"/>
          </p:cNvSpPr>
          <p:nvPr>
            <p:ph type="dt" sz="half" idx="10"/>
          </p:nvPr>
        </p:nvSpPr>
        <p:spPr/>
        <p:txBody>
          <a:bodyPr/>
          <a:lstStyle/>
          <a:p>
            <a:fld id="{1C82B110-4858-4EF2-BACF-CBB04D28720B}" type="datetime1">
              <a:rPr lang="en-US" smtClean="0"/>
              <a:t>7/21/2026</a:t>
            </a:fld>
            <a:endParaRPr lang="en-IN"/>
          </a:p>
        </p:txBody>
      </p:sp>
      <p:sp>
        <p:nvSpPr>
          <p:cNvPr id="4" name="Footer Placeholder 3">
            <a:extLst>
              <a:ext uri="{FF2B5EF4-FFF2-40B4-BE49-F238E27FC236}">
                <a16:creationId xmlns:a16="http://schemas.microsoft.com/office/drawing/2014/main" id="{B8FA14D1-16F3-5236-6E03-C95BEAC2F6AE}"/>
              </a:ext>
            </a:extLst>
          </p:cNvPr>
          <p:cNvSpPr>
            <a:spLocks noGrp="1"/>
          </p:cNvSpPr>
          <p:nvPr>
            <p:ph type="ftr" sz="quarter" idx="11"/>
          </p:nvPr>
        </p:nvSpPr>
        <p:spPr/>
        <p:txBody>
          <a:bodyPr/>
          <a:lstStyle/>
          <a:p>
            <a:r>
              <a:rPr lang="en-US"/>
              <a:t>EduSphere:  AI-Powered Student Lifecycle Management Ecosystem</a:t>
            </a:r>
            <a:endParaRPr lang="en-IN"/>
          </a:p>
        </p:txBody>
      </p:sp>
      <p:sp>
        <p:nvSpPr>
          <p:cNvPr id="5" name="Slide Number Placeholder 4">
            <a:extLst>
              <a:ext uri="{FF2B5EF4-FFF2-40B4-BE49-F238E27FC236}">
                <a16:creationId xmlns:a16="http://schemas.microsoft.com/office/drawing/2014/main" id="{0C80F7B0-1557-6635-7534-08A87EFB63D9}"/>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137486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97372C-F7BF-EAEE-7620-93234430594C}"/>
              </a:ext>
            </a:extLst>
          </p:cNvPr>
          <p:cNvSpPr>
            <a:spLocks noGrp="1"/>
          </p:cNvSpPr>
          <p:nvPr>
            <p:ph type="dt" sz="half" idx="10"/>
          </p:nvPr>
        </p:nvSpPr>
        <p:spPr/>
        <p:txBody>
          <a:bodyPr/>
          <a:lstStyle/>
          <a:p>
            <a:fld id="{014A2A7A-E0C2-4766-8CFC-75C940FFA23A}" type="datetime1">
              <a:rPr lang="en-US" smtClean="0"/>
              <a:t>7/21/2026</a:t>
            </a:fld>
            <a:endParaRPr lang="en-IN"/>
          </a:p>
        </p:txBody>
      </p:sp>
      <p:sp>
        <p:nvSpPr>
          <p:cNvPr id="3" name="Footer Placeholder 2">
            <a:extLst>
              <a:ext uri="{FF2B5EF4-FFF2-40B4-BE49-F238E27FC236}">
                <a16:creationId xmlns:a16="http://schemas.microsoft.com/office/drawing/2014/main" id="{5337C2DB-5E97-7C54-9556-7E8EBFEDF64C}"/>
              </a:ext>
            </a:extLst>
          </p:cNvPr>
          <p:cNvSpPr>
            <a:spLocks noGrp="1"/>
          </p:cNvSpPr>
          <p:nvPr>
            <p:ph type="ftr" sz="quarter" idx="11"/>
          </p:nvPr>
        </p:nvSpPr>
        <p:spPr/>
        <p:txBody>
          <a:bodyPr/>
          <a:lstStyle/>
          <a:p>
            <a:r>
              <a:rPr lang="en-US"/>
              <a:t>EduSphere:  AI-Powered Student Lifecycle Management Ecosystem</a:t>
            </a:r>
            <a:endParaRPr lang="en-IN"/>
          </a:p>
        </p:txBody>
      </p:sp>
      <p:sp>
        <p:nvSpPr>
          <p:cNvPr id="4" name="Slide Number Placeholder 3">
            <a:extLst>
              <a:ext uri="{FF2B5EF4-FFF2-40B4-BE49-F238E27FC236}">
                <a16:creationId xmlns:a16="http://schemas.microsoft.com/office/drawing/2014/main" id="{5EA34BFC-0FEE-257E-8F89-6C2683A7A7C7}"/>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8294729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37A4-5E21-8AE7-528C-5F99886C8E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825A2C-C9DB-64FD-3A63-A255B654CB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05ADC3-4D3C-F425-BA06-E988288D78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D2A61A-AB91-FAEA-65CA-698DF7E401F7}"/>
              </a:ext>
            </a:extLst>
          </p:cNvPr>
          <p:cNvSpPr>
            <a:spLocks noGrp="1"/>
          </p:cNvSpPr>
          <p:nvPr>
            <p:ph type="dt" sz="half" idx="10"/>
          </p:nvPr>
        </p:nvSpPr>
        <p:spPr/>
        <p:txBody>
          <a:bodyPr/>
          <a:lstStyle/>
          <a:p>
            <a:fld id="{FBF1B5C5-4CCF-4E33-825C-F70EEDE42008}" type="datetime1">
              <a:rPr lang="en-US" smtClean="0"/>
              <a:t>7/21/2026</a:t>
            </a:fld>
            <a:endParaRPr lang="en-IN"/>
          </a:p>
        </p:txBody>
      </p:sp>
      <p:sp>
        <p:nvSpPr>
          <p:cNvPr id="6" name="Footer Placeholder 5">
            <a:extLst>
              <a:ext uri="{FF2B5EF4-FFF2-40B4-BE49-F238E27FC236}">
                <a16:creationId xmlns:a16="http://schemas.microsoft.com/office/drawing/2014/main" id="{8459AD4E-C73E-F77E-01DC-F8A7B6D6E043}"/>
              </a:ext>
            </a:extLst>
          </p:cNvPr>
          <p:cNvSpPr>
            <a:spLocks noGrp="1"/>
          </p:cNvSpPr>
          <p:nvPr>
            <p:ph type="ftr" sz="quarter" idx="11"/>
          </p:nvPr>
        </p:nvSpPr>
        <p:spPr/>
        <p:txBody>
          <a:bodyPr/>
          <a:lstStyle/>
          <a:p>
            <a:r>
              <a:rPr lang="en-US"/>
              <a:t>EduSphere:  AI-Powered Student Lifecycle Management Ecosystem</a:t>
            </a:r>
            <a:endParaRPr lang="en-IN"/>
          </a:p>
        </p:txBody>
      </p:sp>
      <p:sp>
        <p:nvSpPr>
          <p:cNvPr id="7" name="Slide Number Placeholder 6">
            <a:extLst>
              <a:ext uri="{FF2B5EF4-FFF2-40B4-BE49-F238E27FC236}">
                <a16:creationId xmlns:a16="http://schemas.microsoft.com/office/drawing/2014/main" id="{4E827D5D-EFB7-C03A-30EB-F6CF2BF7F425}"/>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63268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179C7-579D-A78A-4174-3F5327205F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BCA7AB-3308-3A3C-341C-D0EC41FBAE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834BB76-1BBD-A16D-5A45-050FFDB0F9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9162C3-7A56-C0C4-F224-9EF0B98D6B23}"/>
              </a:ext>
            </a:extLst>
          </p:cNvPr>
          <p:cNvSpPr>
            <a:spLocks noGrp="1"/>
          </p:cNvSpPr>
          <p:nvPr>
            <p:ph type="dt" sz="half" idx="10"/>
          </p:nvPr>
        </p:nvSpPr>
        <p:spPr/>
        <p:txBody>
          <a:bodyPr/>
          <a:lstStyle/>
          <a:p>
            <a:fld id="{C8847D12-146A-4539-9D4E-E74D2F170FC4}" type="datetime1">
              <a:rPr lang="en-US" smtClean="0"/>
              <a:t>7/21/2026</a:t>
            </a:fld>
            <a:endParaRPr lang="en-IN"/>
          </a:p>
        </p:txBody>
      </p:sp>
      <p:sp>
        <p:nvSpPr>
          <p:cNvPr id="6" name="Footer Placeholder 5">
            <a:extLst>
              <a:ext uri="{FF2B5EF4-FFF2-40B4-BE49-F238E27FC236}">
                <a16:creationId xmlns:a16="http://schemas.microsoft.com/office/drawing/2014/main" id="{DA435905-F50A-D88A-0B35-44716A29D127}"/>
              </a:ext>
            </a:extLst>
          </p:cNvPr>
          <p:cNvSpPr>
            <a:spLocks noGrp="1"/>
          </p:cNvSpPr>
          <p:nvPr>
            <p:ph type="ftr" sz="quarter" idx="11"/>
          </p:nvPr>
        </p:nvSpPr>
        <p:spPr/>
        <p:txBody>
          <a:bodyPr/>
          <a:lstStyle/>
          <a:p>
            <a:r>
              <a:rPr lang="en-US"/>
              <a:t>EduSphere:  AI-Powered Student Lifecycle Management Ecosystem</a:t>
            </a:r>
            <a:endParaRPr lang="en-IN"/>
          </a:p>
        </p:txBody>
      </p:sp>
      <p:sp>
        <p:nvSpPr>
          <p:cNvPr id="7" name="Slide Number Placeholder 6">
            <a:extLst>
              <a:ext uri="{FF2B5EF4-FFF2-40B4-BE49-F238E27FC236}">
                <a16:creationId xmlns:a16="http://schemas.microsoft.com/office/drawing/2014/main" id="{3AD0D6C8-B189-11DA-3BFF-738D8B9FC078}"/>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3307671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AB018-379F-CBC8-50FA-EFEEF5BC44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8F80E7-677F-A086-19EE-670D06E88C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5B2247-762B-2AF7-1711-8CDAF7CC4BDF}"/>
              </a:ext>
            </a:extLst>
          </p:cNvPr>
          <p:cNvSpPr>
            <a:spLocks noGrp="1"/>
          </p:cNvSpPr>
          <p:nvPr>
            <p:ph type="dt" sz="half" idx="10"/>
          </p:nvPr>
        </p:nvSpPr>
        <p:spPr/>
        <p:txBody>
          <a:bodyPr/>
          <a:lstStyle/>
          <a:p>
            <a:fld id="{DA31CF4F-97B9-48A9-AC40-424D5FC563C4}" type="datetime1">
              <a:rPr lang="en-US" smtClean="0"/>
              <a:t>7/21/2026</a:t>
            </a:fld>
            <a:endParaRPr lang="en-IN"/>
          </a:p>
        </p:txBody>
      </p:sp>
      <p:sp>
        <p:nvSpPr>
          <p:cNvPr id="5" name="Footer Placeholder 4">
            <a:extLst>
              <a:ext uri="{FF2B5EF4-FFF2-40B4-BE49-F238E27FC236}">
                <a16:creationId xmlns:a16="http://schemas.microsoft.com/office/drawing/2014/main" id="{2E5828C1-A7B7-6020-4B63-F9C6F2F23D56}"/>
              </a:ext>
            </a:extLst>
          </p:cNvPr>
          <p:cNvSpPr>
            <a:spLocks noGrp="1"/>
          </p:cNvSpPr>
          <p:nvPr>
            <p:ph type="ftr" sz="quarter" idx="11"/>
          </p:nvPr>
        </p:nvSpPr>
        <p:spPr/>
        <p:txBody>
          <a:bodyPr/>
          <a:lstStyle/>
          <a:p>
            <a:r>
              <a:rPr lang="en-US"/>
              <a:t>EduSphere:  AI-Powered Student Lifecycle Management Ecosystem</a:t>
            </a:r>
            <a:endParaRPr lang="en-IN"/>
          </a:p>
        </p:txBody>
      </p:sp>
      <p:sp>
        <p:nvSpPr>
          <p:cNvPr id="6" name="Slide Number Placeholder 5">
            <a:extLst>
              <a:ext uri="{FF2B5EF4-FFF2-40B4-BE49-F238E27FC236}">
                <a16:creationId xmlns:a16="http://schemas.microsoft.com/office/drawing/2014/main" id="{FBC130BC-C324-C96F-E3D0-F55522A5B674}"/>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4102560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B551DC-580A-93AA-2414-531018321CB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D8B83C-5D4C-4108-4F28-D5F7620E2D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3F16D5-AAA5-6D4D-5F03-E13672417003}"/>
              </a:ext>
            </a:extLst>
          </p:cNvPr>
          <p:cNvSpPr>
            <a:spLocks noGrp="1"/>
          </p:cNvSpPr>
          <p:nvPr>
            <p:ph type="dt" sz="half" idx="10"/>
          </p:nvPr>
        </p:nvSpPr>
        <p:spPr/>
        <p:txBody>
          <a:bodyPr/>
          <a:lstStyle/>
          <a:p>
            <a:fld id="{4B83F3AD-2C1B-4AB2-9965-14C4AA2F4EA8}" type="datetime1">
              <a:rPr lang="en-US" smtClean="0"/>
              <a:t>7/21/2026</a:t>
            </a:fld>
            <a:endParaRPr lang="en-IN"/>
          </a:p>
        </p:txBody>
      </p:sp>
      <p:sp>
        <p:nvSpPr>
          <p:cNvPr id="5" name="Footer Placeholder 4">
            <a:extLst>
              <a:ext uri="{FF2B5EF4-FFF2-40B4-BE49-F238E27FC236}">
                <a16:creationId xmlns:a16="http://schemas.microsoft.com/office/drawing/2014/main" id="{395461F2-264F-378B-A184-F50CF39FE17A}"/>
              </a:ext>
            </a:extLst>
          </p:cNvPr>
          <p:cNvSpPr>
            <a:spLocks noGrp="1"/>
          </p:cNvSpPr>
          <p:nvPr>
            <p:ph type="ftr" sz="quarter" idx="11"/>
          </p:nvPr>
        </p:nvSpPr>
        <p:spPr/>
        <p:txBody>
          <a:bodyPr/>
          <a:lstStyle/>
          <a:p>
            <a:r>
              <a:rPr lang="en-US"/>
              <a:t>EduSphere:  AI-Powered Student Lifecycle Management Ecosystem</a:t>
            </a:r>
            <a:endParaRPr lang="en-IN"/>
          </a:p>
        </p:txBody>
      </p:sp>
      <p:sp>
        <p:nvSpPr>
          <p:cNvPr id="6" name="Slide Number Placeholder 5">
            <a:extLst>
              <a:ext uri="{FF2B5EF4-FFF2-40B4-BE49-F238E27FC236}">
                <a16:creationId xmlns:a16="http://schemas.microsoft.com/office/drawing/2014/main" id="{04737DA7-ED83-1441-872E-FD3AD2F9B754}"/>
              </a:ext>
            </a:extLst>
          </p:cNvPr>
          <p:cNvSpPr>
            <a:spLocks noGrp="1"/>
          </p:cNvSpPr>
          <p:nvPr>
            <p:ph type="sldNum" sz="quarter" idx="12"/>
          </p:nvPr>
        </p:nvSpPr>
        <p:spPr/>
        <p:txBody>
          <a:bodyPr/>
          <a:lstStyle/>
          <a:p>
            <a:fld id="{757A8BD8-0A3E-42BC-A61D-F16669E24A92}" type="slidenum">
              <a:rPr lang="en-IN" smtClean="0"/>
              <a:t>‹#›</a:t>
            </a:fld>
            <a:endParaRPr lang="en-IN"/>
          </a:p>
        </p:txBody>
      </p:sp>
    </p:spTree>
    <p:extLst>
      <p:ext uri="{BB962C8B-B14F-4D97-AF65-F5344CB8AC3E}">
        <p14:creationId xmlns:p14="http://schemas.microsoft.com/office/powerpoint/2010/main" val="2876642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B0CC99-3EEE-86E5-FE2C-F0B94DD6F7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7DE8208-9B21-B3F6-D30D-86C46B94A7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576716-C20D-C308-0C2B-D406D882C9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401E2B-DFC0-4386-88FF-65DC0B814D13}" type="datetime1">
              <a:rPr lang="en-US" smtClean="0"/>
              <a:t>7/21/2026</a:t>
            </a:fld>
            <a:endParaRPr lang="en-IN"/>
          </a:p>
        </p:txBody>
      </p:sp>
      <p:sp>
        <p:nvSpPr>
          <p:cNvPr id="5" name="Footer Placeholder 4">
            <a:extLst>
              <a:ext uri="{FF2B5EF4-FFF2-40B4-BE49-F238E27FC236}">
                <a16:creationId xmlns:a16="http://schemas.microsoft.com/office/drawing/2014/main" id="{798F7323-0339-5F01-8B61-81CF6443E8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EduSphere:  AI-Powered Student Lifecycle Management Ecosystem</a:t>
            </a:r>
            <a:endParaRPr lang="en-IN"/>
          </a:p>
        </p:txBody>
      </p:sp>
      <p:sp>
        <p:nvSpPr>
          <p:cNvPr id="6" name="Slide Number Placeholder 5">
            <a:extLst>
              <a:ext uri="{FF2B5EF4-FFF2-40B4-BE49-F238E27FC236}">
                <a16:creationId xmlns:a16="http://schemas.microsoft.com/office/drawing/2014/main" id="{64AB3C24-BDF7-1420-90D8-A53BB3AEB9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7A8BD8-0A3E-42BC-A61D-F16669E24A92}" type="slidenum">
              <a:rPr lang="en-IN" smtClean="0"/>
              <a:t>‹#›</a:t>
            </a:fld>
            <a:endParaRPr lang="en-IN"/>
          </a:p>
        </p:txBody>
      </p:sp>
    </p:spTree>
    <p:extLst>
      <p:ext uri="{BB962C8B-B14F-4D97-AF65-F5344CB8AC3E}">
        <p14:creationId xmlns:p14="http://schemas.microsoft.com/office/powerpoint/2010/main" val="634053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2">
            <a:extLst>
              <a:ext uri="{FF2B5EF4-FFF2-40B4-BE49-F238E27FC236}">
                <a16:creationId xmlns:a16="http://schemas.microsoft.com/office/drawing/2014/main" id="{F21FFC9F-A1C9-39FE-82BF-25A6DDAAB5A7}"/>
              </a:ext>
            </a:extLst>
          </p:cNvPr>
          <p:cNvSpPr>
            <a:spLocks noChangeArrowheads="1"/>
          </p:cNvSpPr>
          <p:nvPr/>
        </p:nvSpPr>
        <p:spPr bwMode="auto">
          <a:xfrm>
            <a:off x="1376998" y="4311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4" name="Graphic 25">
            <a:extLst>
              <a:ext uri="{FF2B5EF4-FFF2-40B4-BE49-F238E27FC236}">
                <a16:creationId xmlns:a16="http://schemas.microsoft.com/office/drawing/2014/main" id="{201545A9-1026-E99D-2C42-EE6F10F43A0C}"/>
              </a:ext>
            </a:extLst>
          </p:cNvPr>
          <p:cNvSpPr>
            <a:spLocks/>
          </p:cNvSpPr>
          <p:nvPr/>
        </p:nvSpPr>
        <p:spPr>
          <a:xfrm flipV="1">
            <a:off x="5985192" y="8935086"/>
            <a:ext cx="3048000" cy="45719"/>
          </a:xfrm>
          <a:custGeom>
            <a:avLst/>
            <a:gdLst/>
            <a:ahLst/>
            <a:cxnLst/>
            <a:rect l="l" t="t" r="r" b="b"/>
            <a:pathLst>
              <a:path w="3048000">
                <a:moveTo>
                  <a:pt x="0" y="0"/>
                </a:moveTo>
                <a:lnTo>
                  <a:pt x="3048000" y="0"/>
                </a:lnTo>
              </a:path>
            </a:pathLst>
          </a:custGeom>
          <a:ln w="19812">
            <a:solidFill>
              <a:srgbClr val="000000"/>
            </a:solidFill>
            <a:prstDash val="solid"/>
          </a:ln>
        </p:spPr>
        <p:txBody>
          <a:bodyPr wrap="square" lIns="0" tIns="0" rIns="0" bIns="0" rtlCol="0">
            <a:prstTxWarp prst="textNoShape">
              <a:avLst/>
            </a:prstTxWarp>
            <a:noAutofit/>
          </a:bodyPr>
          <a:lstStyle/>
          <a:p>
            <a:endParaRPr lang="en-IN"/>
          </a:p>
        </p:txBody>
      </p:sp>
      <p:sp>
        <p:nvSpPr>
          <p:cNvPr id="17" name="TextBox 16">
            <a:extLst>
              <a:ext uri="{FF2B5EF4-FFF2-40B4-BE49-F238E27FC236}">
                <a16:creationId xmlns:a16="http://schemas.microsoft.com/office/drawing/2014/main" id="{5F0EEF35-C19D-33D7-43F1-4199B485D8D5}"/>
              </a:ext>
            </a:extLst>
          </p:cNvPr>
          <p:cNvSpPr txBox="1"/>
          <p:nvPr/>
        </p:nvSpPr>
        <p:spPr>
          <a:xfrm>
            <a:off x="686393" y="3975443"/>
            <a:ext cx="5645888" cy="2477601"/>
          </a:xfrm>
          <a:prstGeom prst="rect">
            <a:avLst/>
          </a:prstGeom>
          <a:noFill/>
        </p:spPr>
        <p:txBody>
          <a:bodyPr wrap="square">
            <a:spAutoFit/>
          </a:bodyPr>
          <a:lstStyle/>
          <a:p>
            <a:pPr eaLnBrk="0" fontAlgn="base" hangingPunct="0">
              <a:spcBef>
                <a:spcPct val="0"/>
              </a:spcBef>
              <a:spcAft>
                <a:spcPct val="0"/>
              </a:spcAft>
            </a:pPr>
            <a:r>
              <a:rPr lang="en-US" altLang="en-US" sz="2000" dirty="0">
                <a:latin typeface="Times New Roman" panose="02020603050405020304" pitchFamily="18" charset="0"/>
                <a:ea typeface="Calibri" panose="020F0502020204030204" pitchFamily="34" charset="0"/>
                <a:cs typeface="Times New Roman" panose="02020603050405020304" pitchFamily="18" charset="0"/>
              </a:rPr>
              <a:t>Presented By</a:t>
            </a:r>
          </a:p>
          <a:p>
            <a:pPr eaLnBrk="0" fontAlgn="base" hangingPunct="0">
              <a:spcBef>
                <a:spcPct val="0"/>
              </a:spcBef>
              <a:spcAft>
                <a:spcPct val="0"/>
              </a:spcAft>
            </a:pPr>
            <a:endParaRPr lang="en-US" altLang="en-US" sz="2000" dirty="0">
              <a:latin typeface="Times New Roman" panose="02020603050405020304" pitchFamily="18" charset="0"/>
              <a:ea typeface="Calibri" panose="020F0502020204030204" pitchFamily="34" charset="0"/>
              <a:cs typeface="Times New Roman" panose="02020603050405020304" pitchFamily="18" charset="0"/>
            </a:endParaRPr>
          </a:p>
          <a:p>
            <a:pPr marL="274320" indent="-274320">
              <a:spcBef>
                <a:spcPts val="580"/>
              </a:spcBef>
              <a:defRPr/>
            </a:pPr>
            <a:r>
              <a:rPr lang="en-IN" sz="2000" b="1"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SIVAANI S K                    727623BCS019</a:t>
            </a:r>
          </a:p>
          <a:p>
            <a:pPr marL="274320" indent="-274320">
              <a:spcBef>
                <a:spcPts val="580"/>
              </a:spcBef>
              <a:defRPr/>
            </a:pPr>
            <a:r>
              <a:rPr lang="en-IN" sz="2000" b="1"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KABIL K                           727623BCS133</a:t>
            </a:r>
          </a:p>
          <a:p>
            <a:pPr marL="274320" indent="-274320">
              <a:spcBef>
                <a:spcPts val="580"/>
              </a:spcBef>
              <a:defRPr/>
            </a:pPr>
            <a:r>
              <a:rPr lang="en-IN" sz="2000" b="1" dirty="0">
                <a:solidFill>
                  <a:schemeClr val="tx1">
                    <a:lumMod val="95000"/>
                    <a:lumOff val="5000"/>
                  </a:schemeClr>
                </a:solidFill>
                <a:latin typeface="Times New Roman" panose="02020603050405020304" pitchFamily="18" charset="0"/>
                <a:ea typeface="Calibri" panose="020F0502020204030204" pitchFamily="34" charset="0"/>
                <a:cs typeface="Times New Roman" panose="02020603050405020304" pitchFamily="18" charset="0"/>
              </a:rPr>
              <a:t>FAIZAN GAFOOR A       727623BCS191</a:t>
            </a:r>
          </a:p>
          <a:p>
            <a:pPr eaLnBrk="0" fontAlgn="base" hangingPunct="0">
              <a:spcBef>
                <a:spcPct val="0"/>
              </a:spcBef>
              <a:spcAft>
                <a:spcPct val="0"/>
              </a:spcAft>
            </a:pPr>
            <a:endParaRPr lang="en-US" altLang="en-US" sz="2000" b="1" dirty="0">
              <a:latin typeface="Times New Roman" panose="02020603050405020304" pitchFamily="18" charset="0"/>
              <a:ea typeface="Calibri" panose="020F0502020204030204" pitchFamily="34" charset="0"/>
              <a:cs typeface="Times New Roman" panose="02020603050405020304" pitchFamily="18" charset="0"/>
            </a:endParaRPr>
          </a:p>
          <a:p>
            <a:pPr eaLnBrk="0" fontAlgn="base" hangingPunct="0">
              <a:spcBef>
                <a:spcPct val="0"/>
              </a:spcBef>
              <a:spcAft>
                <a:spcPct val="0"/>
              </a:spcAft>
            </a:pPr>
            <a:endParaRPr lang="en-US" altLang="en-US" sz="2000" dirty="0">
              <a:latin typeface="Calibri" panose="020F0502020204030204" pitchFamily="34" charset="0"/>
              <a:ea typeface="Calibri" panose="020F0502020204030204" pitchFamily="34" charset="0"/>
              <a:cs typeface="Calibri" panose="020F0502020204030204" pitchFamily="34" charset="0"/>
            </a:endParaRPr>
          </a:p>
        </p:txBody>
      </p:sp>
      <p:cxnSp>
        <p:nvCxnSpPr>
          <p:cNvPr id="22" name="Straight Connector 21">
            <a:extLst>
              <a:ext uri="{FF2B5EF4-FFF2-40B4-BE49-F238E27FC236}">
                <a16:creationId xmlns:a16="http://schemas.microsoft.com/office/drawing/2014/main" id="{9EBC0F8F-D3CD-5A75-9462-C900A043085D}"/>
              </a:ext>
            </a:extLst>
          </p:cNvPr>
          <p:cNvCxnSpPr/>
          <p:nvPr/>
        </p:nvCxnSpPr>
        <p:spPr>
          <a:xfrm>
            <a:off x="4427523" y="3449465"/>
            <a:ext cx="3276600" cy="0"/>
          </a:xfrm>
          <a:prstGeom prst="line">
            <a:avLst/>
          </a:prstGeom>
        </p:spPr>
        <p:style>
          <a:lnRef idx="2">
            <a:schemeClr val="dk1"/>
          </a:lnRef>
          <a:fillRef idx="0">
            <a:schemeClr val="dk1"/>
          </a:fillRef>
          <a:effectRef idx="1">
            <a:schemeClr val="dk1"/>
          </a:effectRef>
          <a:fontRef idx="minor">
            <a:schemeClr val="tx1"/>
          </a:fontRef>
        </p:style>
      </p:cxnSp>
      <p:sp>
        <p:nvSpPr>
          <p:cNvPr id="16" name="TextBox 15">
            <a:extLst>
              <a:ext uri="{FF2B5EF4-FFF2-40B4-BE49-F238E27FC236}">
                <a16:creationId xmlns:a16="http://schemas.microsoft.com/office/drawing/2014/main" id="{9DFDD0F2-9642-4BAD-B88C-137D3705539D}"/>
              </a:ext>
            </a:extLst>
          </p:cNvPr>
          <p:cNvSpPr txBox="1"/>
          <p:nvPr/>
        </p:nvSpPr>
        <p:spPr>
          <a:xfrm>
            <a:off x="7509192" y="4097366"/>
            <a:ext cx="4245220" cy="1800493"/>
          </a:xfrm>
          <a:prstGeom prst="rect">
            <a:avLst/>
          </a:prstGeom>
          <a:noFill/>
        </p:spPr>
        <p:txBody>
          <a:bodyPr wrap="square">
            <a:spAutoFit/>
          </a:bodyPr>
          <a:lstStyle/>
          <a:p>
            <a:pPr algn="ctr" eaLnBrk="0" fontAlgn="base" hangingPunct="0">
              <a:spcBef>
                <a:spcPct val="0"/>
              </a:spcBef>
              <a:spcAft>
                <a:spcPct val="0"/>
              </a:spcAft>
            </a:pPr>
            <a:r>
              <a:rPr lang="en-US" altLang="en-US" sz="2600" dirty="0">
                <a:latin typeface="Times New Roman" panose="02020603050405020304" pitchFamily="18" charset="0"/>
                <a:ea typeface="Calibri" panose="020F0502020204030204" pitchFamily="34" charset="0"/>
                <a:cs typeface="Times New Roman" panose="02020603050405020304" pitchFamily="18" charset="0"/>
              </a:rPr>
              <a:t>Faculty Supervisor</a:t>
            </a:r>
          </a:p>
          <a:p>
            <a:pPr algn="ctr" eaLnBrk="0" fontAlgn="base" hangingPunct="0">
              <a:spcBef>
                <a:spcPct val="0"/>
              </a:spcBef>
              <a:spcAft>
                <a:spcPct val="0"/>
              </a:spcAft>
            </a:pPr>
            <a:endParaRPr lang="en-US" altLang="en-US" sz="2600" dirty="0">
              <a:latin typeface="Calibri" panose="020F0502020204030204" pitchFamily="34" charset="0"/>
              <a:ea typeface="Calibri" panose="020F0502020204030204" pitchFamily="34" charset="0"/>
              <a:cs typeface="Calibri" panose="020F0502020204030204" pitchFamily="34" charset="0"/>
            </a:endParaRPr>
          </a:p>
          <a:p>
            <a:pPr algn="ctr" eaLnBrk="0" fontAlgn="base" hangingPunct="0">
              <a:spcBef>
                <a:spcPct val="0"/>
              </a:spcBef>
              <a:spcAft>
                <a:spcPct val="0"/>
              </a:spcAft>
            </a:pPr>
            <a:r>
              <a:rPr lang="en-US" sz="2400" b="1" dirty="0">
                <a:latin typeface="Times New Roman" panose="02020603050405020304" pitchFamily="18" charset="0"/>
                <a:cs typeface="Times New Roman" panose="02020603050405020304" pitchFamily="18" charset="0"/>
              </a:rPr>
              <a:t> Dr. N. Suba Rani</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ASP/CSE</a:t>
            </a:r>
            <a:endParaRPr lang="en-US" altLang="en-US" sz="2800" b="1" dirty="0">
              <a:latin typeface="Calibri" panose="020F0502020204030204" pitchFamily="34" charset="0"/>
              <a:ea typeface="Calibri" panose="020F0502020204030204" pitchFamily="34" charset="0"/>
              <a:cs typeface="Calibri" panose="020F0502020204030204" pitchFamily="34" charset="0"/>
            </a:endParaRPr>
          </a:p>
          <a:p>
            <a:pPr algn="ctr" eaLnBrk="0" fontAlgn="base" hangingPunct="0">
              <a:spcBef>
                <a:spcPct val="0"/>
              </a:spcBef>
              <a:spcAft>
                <a:spcPct val="0"/>
              </a:spcAft>
            </a:pPr>
            <a:endParaRPr lang="en-US" altLang="en-US" sz="700" dirty="0">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3135D955-6D14-3264-4458-BCBC7B16ABA0}"/>
              </a:ext>
            </a:extLst>
          </p:cNvPr>
          <p:cNvGrpSpPr>
            <a:grpSpLocks/>
          </p:cNvGrpSpPr>
          <p:nvPr/>
        </p:nvGrpSpPr>
        <p:grpSpPr>
          <a:xfrm>
            <a:off x="1783463" y="1854089"/>
            <a:ext cx="8712835" cy="1887892"/>
            <a:chOff x="3175" y="3175"/>
            <a:chExt cx="8712835" cy="1921510"/>
          </a:xfrm>
        </p:grpSpPr>
        <p:pic>
          <p:nvPicPr>
            <p:cNvPr id="3" name="Image 21">
              <a:extLst>
                <a:ext uri="{FF2B5EF4-FFF2-40B4-BE49-F238E27FC236}">
                  <a16:creationId xmlns:a16="http://schemas.microsoft.com/office/drawing/2014/main" id="{564C26A1-A4B1-AD4C-2CFB-58F562BCDE76}"/>
                </a:ext>
              </a:extLst>
            </p:cNvPr>
            <p:cNvPicPr/>
            <p:nvPr/>
          </p:nvPicPr>
          <p:blipFill>
            <a:blip r:embed="rId3" cstate="print"/>
            <a:stretch>
              <a:fillRect/>
            </a:stretch>
          </p:blipFill>
          <p:spPr>
            <a:xfrm>
              <a:off x="3175" y="3175"/>
              <a:ext cx="8712835" cy="1921510"/>
            </a:xfrm>
            <a:prstGeom prst="rect">
              <a:avLst/>
            </a:prstGeom>
          </p:spPr>
        </p:pic>
        <p:sp>
          <p:nvSpPr>
            <p:cNvPr id="5" name="Graphic 22">
              <a:extLst>
                <a:ext uri="{FF2B5EF4-FFF2-40B4-BE49-F238E27FC236}">
                  <a16:creationId xmlns:a16="http://schemas.microsoft.com/office/drawing/2014/main" id="{488B2FF1-35C6-1379-A169-D10CFD50FC97}"/>
                </a:ext>
              </a:extLst>
            </p:cNvPr>
            <p:cNvSpPr/>
            <p:nvPr/>
          </p:nvSpPr>
          <p:spPr>
            <a:xfrm>
              <a:off x="3175" y="3175"/>
              <a:ext cx="8712835" cy="1921510"/>
            </a:xfrm>
            <a:custGeom>
              <a:avLst/>
              <a:gdLst/>
              <a:ahLst/>
              <a:cxnLst/>
              <a:rect l="l" t="t" r="r" b="b"/>
              <a:pathLst>
                <a:path w="8712835" h="1921510">
                  <a:moveTo>
                    <a:pt x="0" y="320294"/>
                  </a:moveTo>
                  <a:lnTo>
                    <a:pt x="3472" y="272959"/>
                  </a:lnTo>
                  <a:lnTo>
                    <a:pt x="13559" y="227782"/>
                  </a:lnTo>
                  <a:lnTo>
                    <a:pt x="29766" y="185258"/>
                  </a:lnTo>
                  <a:lnTo>
                    <a:pt x="51596" y="145882"/>
                  </a:lnTo>
                  <a:lnTo>
                    <a:pt x="78556" y="110150"/>
                  </a:lnTo>
                  <a:lnTo>
                    <a:pt x="110150" y="78556"/>
                  </a:lnTo>
                  <a:lnTo>
                    <a:pt x="145882" y="51596"/>
                  </a:lnTo>
                  <a:lnTo>
                    <a:pt x="185258" y="29766"/>
                  </a:lnTo>
                  <a:lnTo>
                    <a:pt x="227782" y="13559"/>
                  </a:lnTo>
                  <a:lnTo>
                    <a:pt x="272959" y="3472"/>
                  </a:lnTo>
                  <a:lnTo>
                    <a:pt x="320294" y="0"/>
                  </a:lnTo>
                  <a:lnTo>
                    <a:pt x="8392541" y="0"/>
                  </a:lnTo>
                  <a:lnTo>
                    <a:pt x="8439875" y="3472"/>
                  </a:lnTo>
                  <a:lnTo>
                    <a:pt x="8485052" y="13559"/>
                  </a:lnTo>
                  <a:lnTo>
                    <a:pt x="8527576" y="29766"/>
                  </a:lnTo>
                  <a:lnTo>
                    <a:pt x="8566952" y="51596"/>
                  </a:lnTo>
                  <a:lnTo>
                    <a:pt x="8602684" y="78556"/>
                  </a:lnTo>
                  <a:lnTo>
                    <a:pt x="8634278" y="110150"/>
                  </a:lnTo>
                  <a:lnTo>
                    <a:pt x="8661238" y="145882"/>
                  </a:lnTo>
                  <a:lnTo>
                    <a:pt x="8683068" y="185258"/>
                  </a:lnTo>
                  <a:lnTo>
                    <a:pt x="8699275" y="227782"/>
                  </a:lnTo>
                  <a:lnTo>
                    <a:pt x="8709362" y="272959"/>
                  </a:lnTo>
                  <a:lnTo>
                    <a:pt x="8712835" y="320294"/>
                  </a:lnTo>
                  <a:lnTo>
                    <a:pt x="8712835" y="1601216"/>
                  </a:lnTo>
                  <a:lnTo>
                    <a:pt x="8709362" y="1648550"/>
                  </a:lnTo>
                  <a:lnTo>
                    <a:pt x="8699275" y="1693727"/>
                  </a:lnTo>
                  <a:lnTo>
                    <a:pt x="8683068" y="1736251"/>
                  </a:lnTo>
                  <a:lnTo>
                    <a:pt x="8661238" y="1775627"/>
                  </a:lnTo>
                  <a:lnTo>
                    <a:pt x="8634278" y="1811359"/>
                  </a:lnTo>
                  <a:lnTo>
                    <a:pt x="8602684" y="1842953"/>
                  </a:lnTo>
                  <a:lnTo>
                    <a:pt x="8566952" y="1869913"/>
                  </a:lnTo>
                  <a:lnTo>
                    <a:pt x="8527576" y="1891743"/>
                  </a:lnTo>
                  <a:lnTo>
                    <a:pt x="8485052" y="1907950"/>
                  </a:lnTo>
                  <a:lnTo>
                    <a:pt x="8439875" y="1918037"/>
                  </a:lnTo>
                  <a:lnTo>
                    <a:pt x="8392541" y="1921510"/>
                  </a:lnTo>
                  <a:lnTo>
                    <a:pt x="320294" y="1921510"/>
                  </a:lnTo>
                  <a:lnTo>
                    <a:pt x="272959" y="1918037"/>
                  </a:lnTo>
                  <a:lnTo>
                    <a:pt x="227782" y="1907950"/>
                  </a:lnTo>
                  <a:lnTo>
                    <a:pt x="185258" y="1891743"/>
                  </a:lnTo>
                  <a:lnTo>
                    <a:pt x="145882" y="1869913"/>
                  </a:lnTo>
                  <a:lnTo>
                    <a:pt x="110150" y="1842953"/>
                  </a:lnTo>
                  <a:lnTo>
                    <a:pt x="78556" y="1811359"/>
                  </a:lnTo>
                  <a:lnTo>
                    <a:pt x="51596" y="1775627"/>
                  </a:lnTo>
                  <a:lnTo>
                    <a:pt x="29766" y="1736251"/>
                  </a:lnTo>
                  <a:lnTo>
                    <a:pt x="13559" y="1693727"/>
                  </a:lnTo>
                  <a:lnTo>
                    <a:pt x="3472" y="1648550"/>
                  </a:lnTo>
                  <a:lnTo>
                    <a:pt x="0" y="1601216"/>
                  </a:lnTo>
                  <a:lnTo>
                    <a:pt x="0" y="320294"/>
                  </a:lnTo>
                  <a:close/>
                </a:path>
              </a:pathLst>
            </a:custGeom>
            <a:ln w="6350">
              <a:solidFill>
                <a:srgbClr val="FFC000"/>
              </a:solidFill>
              <a:prstDash val="solid"/>
            </a:ln>
          </p:spPr>
          <p:txBody>
            <a:bodyPr wrap="square" lIns="0" tIns="0" rIns="0" bIns="0" rtlCol="0">
              <a:prstTxWarp prst="textNoShape">
                <a:avLst/>
              </a:prstTxWarp>
              <a:noAutofit/>
            </a:bodyPr>
            <a:lstStyle/>
            <a:p>
              <a:endParaRPr lang="en-IN"/>
            </a:p>
          </p:txBody>
        </p:sp>
        <p:sp>
          <p:nvSpPr>
            <p:cNvPr id="15" name="Textbox 23">
              <a:extLst>
                <a:ext uri="{FF2B5EF4-FFF2-40B4-BE49-F238E27FC236}">
                  <a16:creationId xmlns:a16="http://schemas.microsoft.com/office/drawing/2014/main" id="{3E123C30-FA01-1E91-8964-D820084FCD19}"/>
                </a:ext>
              </a:extLst>
            </p:cNvPr>
            <p:cNvSpPr txBox="1"/>
            <p:nvPr/>
          </p:nvSpPr>
          <p:spPr>
            <a:xfrm>
              <a:off x="2535935" y="137597"/>
              <a:ext cx="3659504" cy="393700"/>
            </a:xfrm>
            <a:prstGeom prst="rect">
              <a:avLst/>
            </a:prstGeom>
          </p:spPr>
          <p:txBody>
            <a:bodyPr wrap="square" lIns="0" tIns="0" rIns="0" bIns="0" rtlCol="0">
              <a:noAutofit/>
            </a:bodyPr>
            <a:lstStyle/>
            <a:p>
              <a:pPr>
                <a:lnSpc>
                  <a:spcPts val="3095"/>
                </a:lnSpc>
                <a:buNone/>
              </a:pPr>
              <a:r>
                <a:rPr lang="en-US" sz="2800" b="1" dirty="0">
                  <a:effectLst/>
                  <a:latin typeface="Times New Roman" panose="02020603050405020304" pitchFamily="18" charset="0"/>
                  <a:ea typeface="Times New Roman" panose="02020603050405020304" pitchFamily="18" charset="0"/>
                </a:rPr>
                <a:t> </a:t>
              </a:r>
              <a:endParaRPr lang="en-IN" sz="1100" dirty="0">
                <a:effectLst/>
                <a:latin typeface="Times New Roman" panose="02020603050405020304" pitchFamily="18" charset="0"/>
                <a:ea typeface="Times New Roman" panose="02020603050405020304" pitchFamily="18" charset="0"/>
              </a:endParaRPr>
            </a:p>
          </p:txBody>
        </p:sp>
        <p:sp>
          <p:nvSpPr>
            <p:cNvPr id="18" name="Textbox 24">
              <a:extLst>
                <a:ext uri="{FF2B5EF4-FFF2-40B4-BE49-F238E27FC236}">
                  <a16:creationId xmlns:a16="http://schemas.microsoft.com/office/drawing/2014/main" id="{45D2985B-16F5-7EC8-AB4F-91905F82619C}"/>
                </a:ext>
              </a:extLst>
            </p:cNvPr>
            <p:cNvSpPr txBox="1"/>
            <p:nvPr/>
          </p:nvSpPr>
          <p:spPr>
            <a:xfrm>
              <a:off x="306442" y="790179"/>
              <a:ext cx="8239433" cy="853170"/>
            </a:xfrm>
            <a:prstGeom prst="rect">
              <a:avLst/>
            </a:prstGeom>
          </p:spPr>
          <p:txBody>
            <a:bodyPr wrap="square" lIns="0" tIns="0" rIns="0" bIns="0" rtlCol="0">
              <a:noAutofit/>
            </a:bodyPr>
            <a:lstStyle/>
            <a:p>
              <a:pPr algn="ctr">
                <a:lnSpc>
                  <a:spcPts val="3100"/>
                </a:lnSpc>
                <a:buNone/>
              </a:pPr>
              <a:r>
                <a:rPr lang="en-US" sz="2400" b="1" spc="-10" dirty="0" err="1">
                  <a:latin typeface="Times New Roman" panose="02020603050405020304" pitchFamily="18" charset="0"/>
                  <a:ea typeface="Times New Roman" panose="02020603050405020304" pitchFamily="18" charset="0"/>
                </a:rPr>
                <a:t>EduSphere</a:t>
              </a:r>
              <a:r>
                <a:rPr lang="en-US" sz="2400" b="1" spc="-10" dirty="0">
                  <a:latin typeface="Times New Roman" panose="02020603050405020304" pitchFamily="18" charset="0"/>
                  <a:ea typeface="Times New Roman" panose="02020603050405020304" pitchFamily="18" charset="0"/>
                </a:rPr>
                <a:t>:  AI-Powered Student Lifecycle Management Ecosystem</a:t>
              </a:r>
              <a:endParaRPr lang="en-IN" sz="2400" dirty="0">
                <a:effectLst/>
                <a:latin typeface="Times New Roman" panose="02020603050405020304" pitchFamily="18" charset="0"/>
                <a:ea typeface="Times New Roman" panose="02020603050405020304" pitchFamily="18" charset="0"/>
              </a:endParaRPr>
            </a:p>
          </p:txBody>
        </p:sp>
      </p:grpSp>
      <p:sp>
        <p:nvSpPr>
          <p:cNvPr id="20" name="TextBox 19">
            <a:extLst>
              <a:ext uri="{FF2B5EF4-FFF2-40B4-BE49-F238E27FC236}">
                <a16:creationId xmlns:a16="http://schemas.microsoft.com/office/drawing/2014/main" id="{1F426302-C8A0-FB4D-9AC3-7B974167AFB0}"/>
              </a:ext>
            </a:extLst>
          </p:cNvPr>
          <p:cNvSpPr txBox="1"/>
          <p:nvPr/>
        </p:nvSpPr>
        <p:spPr>
          <a:xfrm>
            <a:off x="3048886" y="1805115"/>
            <a:ext cx="6097772" cy="842154"/>
          </a:xfrm>
          <a:prstGeom prst="rect">
            <a:avLst/>
          </a:prstGeom>
          <a:noFill/>
        </p:spPr>
        <p:txBody>
          <a:bodyPr wrap="square">
            <a:spAutoFit/>
          </a:bodyPr>
          <a:lstStyle/>
          <a:p>
            <a:pPr algn="ctr">
              <a:lnSpc>
                <a:spcPts val="3095"/>
              </a:lnSpc>
            </a:pPr>
            <a:r>
              <a:rPr lang="en-IN" sz="1800" b="1" dirty="0">
                <a:latin typeface="Times New Roman" panose="02020603050405020304" pitchFamily="18" charset="0"/>
                <a:ea typeface="Calibri" panose="020F0502020204030204" pitchFamily="34" charset="0"/>
                <a:cs typeface="Times New Roman" panose="02020603050405020304" pitchFamily="18" charset="0"/>
              </a:rPr>
              <a:t>23CSP701 : </a:t>
            </a:r>
            <a:r>
              <a:rPr lang="en-IN" b="1" dirty="0">
                <a:latin typeface="Times New Roman" panose="02020603050405020304" pitchFamily="18" charset="0"/>
                <a:ea typeface="Calibri" panose="020F0502020204030204" pitchFamily="34" charset="0"/>
                <a:cs typeface="Times New Roman" panose="02020603050405020304" pitchFamily="18" charset="0"/>
              </a:rPr>
              <a:t>Project Phase – I </a:t>
            </a:r>
          </a:p>
          <a:p>
            <a:pPr algn="ctr">
              <a:lnSpc>
                <a:spcPts val="3095"/>
              </a:lnSpc>
            </a:pPr>
            <a:r>
              <a:rPr lang="en-IN" sz="1800" b="1" dirty="0">
                <a:latin typeface="Times New Roman" panose="02020603050405020304" pitchFamily="18" charset="0"/>
                <a:ea typeface="Calibri" panose="020F0502020204030204" pitchFamily="34" charset="0"/>
                <a:cs typeface="Times New Roman" panose="02020603050405020304" pitchFamily="18" charset="0"/>
              </a:rPr>
              <a:t>Zeroth Review</a:t>
            </a:r>
          </a:p>
        </p:txBody>
      </p:sp>
      <p:sp>
        <p:nvSpPr>
          <p:cNvPr id="21" name="Footer Placeholder 20">
            <a:extLst>
              <a:ext uri="{FF2B5EF4-FFF2-40B4-BE49-F238E27FC236}">
                <a16:creationId xmlns:a16="http://schemas.microsoft.com/office/drawing/2014/main" id="{08D58BDC-9E8D-AD52-211B-1AD65C1AC51A}"/>
              </a:ext>
            </a:extLst>
          </p:cNvPr>
          <p:cNvSpPr>
            <a:spLocks noGrp="1"/>
          </p:cNvSpPr>
          <p:nvPr>
            <p:ph type="ftr" sz="quarter" idx="11"/>
          </p:nvPr>
        </p:nvSpPr>
        <p:spPr>
          <a:xfrm>
            <a:off x="3401568" y="6356350"/>
            <a:ext cx="4751832" cy="422858"/>
          </a:xfrm>
        </p:spPr>
        <p:txBody>
          <a:bodyPr/>
          <a:lstStyle/>
          <a:p>
            <a:r>
              <a:rPr lang="en-US" dirty="0" err="1"/>
              <a:t>EduSphere</a:t>
            </a:r>
            <a:r>
              <a:rPr lang="en-US" dirty="0"/>
              <a:t>:  AI-Powered Student Lifecycle Management Ecosystem</a:t>
            </a:r>
            <a:endParaRPr lang="en-IN" dirty="0"/>
          </a:p>
        </p:txBody>
      </p:sp>
      <p:sp>
        <p:nvSpPr>
          <p:cNvPr id="10" name="Rectangle 3">
            <a:extLst>
              <a:ext uri="{FF2B5EF4-FFF2-40B4-BE49-F238E27FC236}">
                <a16:creationId xmlns:a16="http://schemas.microsoft.com/office/drawing/2014/main" id="{ABC9F224-684E-B1AA-6F2C-31D8CA33B78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1" name="Rectangle 3">
            <a:extLst>
              <a:ext uri="{FF2B5EF4-FFF2-40B4-BE49-F238E27FC236}">
                <a16:creationId xmlns:a16="http://schemas.microsoft.com/office/drawing/2014/main" id="{2737B85B-6A5F-A812-5FC8-301229C8F832}"/>
              </a:ext>
            </a:extLst>
          </p:cNvPr>
          <p:cNvSpPr>
            <a:spLocks noChangeArrowheads="1"/>
          </p:cNvSpPr>
          <p:nvPr/>
        </p:nvSpPr>
        <p:spPr bwMode="auto">
          <a:xfrm>
            <a:off x="152400" y="152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2" name="Rectangle 3">
            <a:extLst>
              <a:ext uri="{FF2B5EF4-FFF2-40B4-BE49-F238E27FC236}">
                <a16:creationId xmlns:a16="http://schemas.microsoft.com/office/drawing/2014/main" id="{DF2F0A0A-C51E-C322-B96F-58704D51DF1E}"/>
              </a:ext>
            </a:extLst>
          </p:cNvPr>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26" name="Picture 25">
            <a:extLst>
              <a:ext uri="{FF2B5EF4-FFF2-40B4-BE49-F238E27FC236}">
                <a16:creationId xmlns:a16="http://schemas.microsoft.com/office/drawing/2014/main" id="{29286F0E-DBF9-8562-395C-272F01551F9A}"/>
              </a:ext>
            </a:extLst>
          </p:cNvPr>
          <p:cNvPicPr>
            <a:picLocks noChangeAspect="1"/>
          </p:cNvPicPr>
          <p:nvPr/>
        </p:nvPicPr>
        <p:blipFill>
          <a:blip r:embed="rId4"/>
          <a:stretch>
            <a:fillRect/>
          </a:stretch>
        </p:blipFill>
        <p:spPr>
          <a:xfrm>
            <a:off x="1818239" y="-15503"/>
            <a:ext cx="8643284" cy="1623225"/>
          </a:xfrm>
          <a:prstGeom prst="rect">
            <a:avLst/>
          </a:prstGeom>
        </p:spPr>
      </p:pic>
    </p:spTree>
    <p:extLst>
      <p:ext uri="{BB962C8B-B14F-4D97-AF65-F5344CB8AC3E}">
        <p14:creationId xmlns:p14="http://schemas.microsoft.com/office/powerpoint/2010/main" val="579206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6253E-6738-E050-5527-D654A1C205BF}"/>
              </a:ext>
            </a:extLst>
          </p:cNvPr>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Contents</a:t>
            </a:r>
            <a:br>
              <a:rPr lang="en-IN" dirty="0">
                <a:solidFill>
                  <a:srgbClr val="FF0000"/>
                </a:solidFill>
                <a:latin typeface="Times New Roman" panose="02020603050405020304" pitchFamily="18" charset="0"/>
                <a:cs typeface="Times New Roman" panose="02020603050405020304" pitchFamily="18" charset="0"/>
              </a:rPr>
            </a:b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1B2155F-6209-9041-3A24-383841F21285}"/>
              </a:ext>
            </a:extLst>
          </p:cNvPr>
          <p:cNvSpPr>
            <a:spLocks noGrp="1"/>
          </p:cNvSpPr>
          <p:nvPr>
            <p:ph idx="1"/>
          </p:nvPr>
        </p:nvSpPr>
        <p:spPr>
          <a:xfrm>
            <a:off x="279699" y="1184223"/>
            <a:ext cx="11074101" cy="4992740"/>
          </a:xfrm>
        </p:spPr>
        <p:txBody>
          <a:bodyPr>
            <a:normAutofit lnSpcReduction="10000"/>
          </a:bodyPr>
          <a:lstStyle/>
          <a:p>
            <a:pPr lvl="2" algn="just">
              <a:lnSpc>
                <a:spcPct val="150000"/>
              </a:lnSpc>
            </a:pPr>
            <a:r>
              <a:rPr lang="en-US" sz="2200" dirty="0">
                <a:latin typeface="Times New Roman" panose="02020603050405020304" pitchFamily="18" charset="0"/>
                <a:cs typeface="Times New Roman" panose="02020603050405020304" pitchFamily="18" charset="0"/>
              </a:rPr>
              <a:t>Introduction</a:t>
            </a:r>
            <a:endParaRPr lang="en-IN" sz="2200" dirty="0">
              <a:latin typeface="Times New Roman" panose="02020603050405020304" pitchFamily="18" charset="0"/>
              <a:cs typeface="Times New Roman" panose="02020603050405020304" pitchFamily="18" charset="0"/>
            </a:endParaRPr>
          </a:p>
          <a:p>
            <a:pPr lvl="2" algn="just">
              <a:lnSpc>
                <a:spcPct val="150000"/>
              </a:lnSpc>
            </a:pPr>
            <a:r>
              <a:rPr lang="en-US" sz="2200" dirty="0">
                <a:latin typeface="Times New Roman" panose="02020603050405020304" pitchFamily="18" charset="0"/>
                <a:cs typeface="Times New Roman" panose="02020603050405020304" pitchFamily="18" charset="0"/>
              </a:rPr>
              <a:t>Literature Survey</a:t>
            </a:r>
            <a:endParaRPr lang="en-IN" sz="2200" dirty="0">
              <a:latin typeface="Times New Roman" panose="02020603050405020304" pitchFamily="18" charset="0"/>
              <a:cs typeface="Times New Roman" panose="02020603050405020304" pitchFamily="18" charset="0"/>
            </a:endParaRPr>
          </a:p>
          <a:p>
            <a:pPr lvl="2" algn="just">
              <a:lnSpc>
                <a:spcPct val="150000"/>
              </a:lnSpc>
            </a:pPr>
            <a:r>
              <a:rPr lang="en-US" sz="2200" dirty="0">
                <a:latin typeface="Times New Roman" panose="02020603050405020304" pitchFamily="18" charset="0"/>
                <a:cs typeface="Times New Roman" panose="02020603050405020304" pitchFamily="18" charset="0"/>
              </a:rPr>
              <a:t>Problem statement</a:t>
            </a:r>
            <a:endParaRPr lang="en-IN" sz="2200" dirty="0">
              <a:latin typeface="Times New Roman" panose="02020603050405020304" pitchFamily="18" charset="0"/>
              <a:cs typeface="Times New Roman" panose="02020603050405020304" pitchFamily="18" charset="0"/>
            </a:endParaRPr>
          </a:p>
          <a:p>
            <a:pPr lvl="2" algn="just">
              <a:lnSpc>
                <a:spcPct val="150000"/>
              </a:lnSpc>
            </a:pPr>
            <a:r>
              <a:rPr lang="en-US" sz="2200" dirty="0">
                <a:latin typeface="Times New Roman" panose="02020603050405020304" pitchFamily="18" charset="0"/>
                <a:cs typeface="Times New Roman" panose="02020603050405020304" pitchFamily="18" charset="0"/>
              </a:rPr>
              <a:t>Objective of the Project</a:t>
            </a:r>
            <a:endParaRPr lang="en-IN" sz="2200" dirty="0">
              <a:latin typeface="Times New Roman" panose="02020603050405020304" pitchFamily="18" charset="0"/>
              <a:cs typeface="Times New Roman" panose="02020603050405020304" pitchFamily="18" charset="0"/>
            </a:endParaRPr>
          </a:p>
          <a:p>
            <a:pPr lvl="2" algn="just">
              <a:lnSpc>
                <a:spcPct val="150000"/>
              </a:lnSpc>
            </a:pPr>
            <a:r>
              <a:rPr lang="en-US" sz="2200" dirty="0">
                <a:latin typeface="Times New Roman" panose="02020603050405020304" pitchFamily="18" charset="0"/>
                <a:cs typeface="Times New Roman" panose="02020603050405020304" pitchFamily="18" charset="0"/>
              </a:rPr>
              <a:t>Novelty of the work</a:t>
            </a:r>
            <a:endParaRPr lang="en-IN" sz="2200" dirty="0">
              <a:latin typeface="Times New Roman" panose="02020603050405020304" pitchFamily="18" charset="0"/>
              <a:cs typeface="Times New Roman" panose="02020603050405020304" pitchFamily="18" charset="0"/>
            </a:endParaRPr>
          </a:p>
          <a:p>
            <a:pPr lvl="2" algn="just">
              <a:lnSpc>
                <a:spcPct val="150000"/>
              </a:lnSpc>
            </a:pPr>
            <a:r>
              <a:rPr lang="en-US" sz="2200" dirty="0">
                <a:latin typeface="Times New Roman" panose="02020603050405020304" pitchFamily="18" charset="0"/>
                <a:cs typeface="Times New Roman" panose="02020603050405020304" pitchFamily="18" charset="0"/>
              </a:rPr>
              <a:t>Proposed work</a:t>
            </a:r>
            <a:endParaRPr lang="en-IN" sz="2200" dirty="0">
              <a:latin typeface="Times New Roman" panose="02020603050405020304" pitchFamily="18" charset="0"/>
              <a:cs typeface="Times New Roman" panose="02020603050405020304" pitchFamily="18" charset="0"/>
            </a:endParaRPr>
          </a:p>
          <a:p>
            <a:pPr lvl="2" algn="just">
              <a:lnSpc>
                <a:spcPct val="150000"/>
              </a:lnSpc>
            </a:pPr>
            <a:r>
              <a:rPr lang="en-US" sz="2200" dirty="0">
                <a:latin typeface="Times New Roman" panose="02020603050405020304" pitchFamily="18" charset="0"/>
                <a:cs typeface="Times New Roman" panose="02020603050405020304" pitchFamily="18" charset="0"/>
              </a:rPr>
              <a:t>Methodology</a:t>
            </a:r>
            <a:endParaRPr lang="en-IN" sz="2200" dirty="0">
              <a:latin typeface="Times New Roman" panose="02020603050405020304" pitchFamily="18" charset="0"/>
              <a:cs typeface="Times New Roman" panose="02020603050405020304" pitchFamily="18" charset="0"/>
            </a:endParaRPr>
          </a:p>
          <a:p>
            <a:pPr lvl="2" algn="just">
              <a:lnSpc>
                <a:spcPct val="150000"/>
              </a:lnSpc>
            </a:pPr>
            <a:r>
              <a:rPr lang="en-US" sz="2200" dirty="0">
                <a:latin typeface="Times New Roman" panose="02020603050405020304" pitchFamily="18" charset="0"/>
                <a:cs typeface="Times New Roman" panose="02020603050405020304" pitchFamily="18" charset="0"/>
              </a:rPr>
              <a:t>Committed Outcome</a:t>
            </a:r>
            <a:endParaRPr lang="en-IN" sz="2200" dirty="0">
              <a:latin typeface="Times New Roman" panose="02020603050405020304" pitchFamily="18" charset="0"/>
              <a:cs typeface="Times New Roman" panose="02020603050405020304" pitchFamily="18" charset="0"/>
            </a:endParaRPr>
          </a:p>
          <a:p>
            <a:pPr lvl="2" algn="just">
              <a:lnSpc>
                <a:spcPct val="150000"/>
              </a:lnSpc>
            </a:pPr>
            <a:r>
              <a:rPr lang="en-US" sz="2200" dirty="0">
                <a:latin typeface="Times New Roman" panose="02020603050405020304" pitchFamily="18" charset="0"/>
                <a:cs typeface="Times New Roman" panose="02020603050405020304" pitchFamily="18" charset="0"/>
              </a:rPr>
              <a:t>References</a:t>
            </a:r>
            <a:endParaRPr lang="en-IN" sz="2200" dirty="0">
              <a:latin typeface="Times New Roman" panose="02020603050405020304" pitchFamily="18" charset="0"/>
              <a:cs typeface="Times New Roman" panose="02020603050405020304" pitchFamily="18" charset="0"/>
            </a:endParaRPr>
          </a:p>
          <a:p>
            <a:endParaRPr lang="en-IN" dirty="0"/>
          </a:p>
        </p:txBody>
      </p:sp>
      <p:sp>
        <p:nvSpPr>
          <p:cNvPr id="4" name="Footer Placeholder 3">
            <a:extLst>
              <a:ext uri="{FF2B5EF4-FFF2-40B4-BE49-F238E27FC236}">
                <a16:creationId xmlns:a16="http://schemas.microsoft.com/office/drawing/2014/main" id="{951E8414-C50D-B0B7-2376-8124CB0AD7AC}"/>
              </a:ext>
            </a:extLst>
          </p:cNvPr>
          <p:cNvSpPr>
            <a:spLocks noGrp="1"/>
          </p:cNvSpPr>
          <p:nvPr>
            <p:ph type="ftr" sz="quarter" idx="11"/>
          </p:nvPr>
        </p:nvSpPr>
        <p:spPr>
          <a:xfrm>
            <a:off x="4038600" y="6392927"/>
            <a:ext cx="4355592" cy="309626"/>
          </a:xfrm>
        </p:spPr>
        <p:txBody>
          <a:bodyPr/>
          <a:lstStyle/>
          <a:p>
            <a:r>
              <a:rPr lang="en-US" dirty="0" err="1"/>
              <a:t>EduSphere</a:t>
            </a:r>
            <a:r>
              <a:rPr lang="en-US" dirty="0"/>
              <a:t>:  AI-Powered Student Lifecycle Management Ecosystem</a:t>
            </a:r>
            <a:endParaRPr lang="en-IN" dirty="0"/>
          </a:p>
        </p:txBody>
      </p:sp>
    </p:spTree>
    <p:extLst>
      <p:ext uri="{BB962C8B-B14F-4D97-AF65-F5344CB8AC3E}">
        <p14:creationId xmlns:p14="http://schemas.microsoft.com/office/powerpoint/2010/main" val="274876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71244-0D7C-B548-BDD6-395218F70D76}"/>
              </a:ext>
            </a:extLst>
          </p:cNvPr>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Introduction</a:t>
            </a:r>
            <a:br>
              <a:rPr lang="en-IN" dirty="0">
                <a:solidFill>
                  <a:srgbClr val="FF0000"/>
                </a:solidFill>
              </a:rPr>
            </a:br>
            <a:endParaRPr lang="en-IN" dirty="0">
              <a:solidFill>
                <a:srgbClr val="FF0000"/>
              </a:solidFill>
            </a:endParaRPr>
          </a:p>
        </p:txBody>
      </p:sp>
      <p:sp>
        <p:nvSpPr>
          <p:cNvPr id="3" name="Content Placeholder 2">
            <a:extLst>
              <a:ext uri="{FF2B5EF4-FFF2-40B4-BE49-F238E27FC236}">
                <a16:creationId xmlns:a16="http://schemas.microsoft.com/office/drawing/2014/main" id="{9441785B-105F-399A-0576-BE0F93C156B2}"/>
              </a:ext>
            </a:extLst>
          </p:cNvPr>
          <p:cNvSpPr>
            <a:spLocks noGrp="1"/>
          </p:cNvSpPr>
          <p:nvPr>
            <p:ph idx="1"/>
          </p:nvPr>
        </p:nvSpPr>
        <p:spPr>
          <a:xfrm>
            <a:off x="838200" y="1367964"/>
            <a:ext cx="10515600" cy="4752000"/>
          </a:xfrm>
        </p:spPr>
        <p:txBody>
          <a:bodyPr>
            <a:normAutofit fontScale="77500" lnSpcReduction="20000"/>
          </a:bodyPr>
          <a:lstStyle/>
          <a:p>
            <a:pPr marL="0" indent="0" algn="just">
              <a:lnSpc>
                <a:spcPct val="150000"/>
              </a:lnSpc>
              <a:buNone/>
            </a:pPr>
            <a:r>
              <a:rPr lang="en-US" dirty="0" err="1">
                <a:latin typeface="Times New Roman" panose="02020603050405020304" pitchFamily="18" charset="0"/>
                <a:cs typeface="Times New Roman" panose="02020603050405020304" pitchFamily="18" charset="0"/>
              </a:rPr>
              <a:t>EduSphere</a:t>
            </a:r>
            <a:r>
              <a:rPr lang="en-US" dirty="0">
                <a:latin typeface="Times New Roman" panose="02020603050405020304" pitchFamily="18" charset="0"/>
                <a:cs typeface="Times New Roman" panose="02020603050405020304" pitchFamily="18" charset="0"/>
              </a:rPr>
              <a:t> is an AI-powered academic and career support platform that combines attendance tracking, assignments, coding practice, projects, skills, resume analysis, MCQs, course activity, communication, study time, and login behavior into one intelligent ecosystem.</a:t>
            </a:r>
            <a:endParaRPr lang="en-US" sz="200" dirty="0">
              <a:latin typeface="Times New Roman" panose="02020603050405020304" pitchFamily="18" charset="0"/>
              <a:cs typeface="Times New Roman" panose="02020603050405020304" pitchFamily="18" charset="0"/>
            </a:endParaRPr>
          </a:p>
          <a:p>
            <a:pPr marL="0" indent="0" algn="just">
              <a:lnSpc>
                <a:spcPct val="150000"/>
              </a:lnSpc>
              <a:buNone/>
            </a:pPr>
            <a:r>
              <a:rPr lang="en-US" dirty="0">
                <a:latin typeface="Times New Roman" panose="02020603050405020304" pitchFamily="18" charset="0"/>
                <a:cs typeface="Times New Roman" panose="02020603050405020304" pitchFamily="18" charset="0"/>
              </a:rPr>
              <a:t>The platform uses learning analytics and intelligent tutoring concepts to understand student behavior, identify weak areas, and provide personalized recommendations for academic improvement, placement readiness, and career guidance. </a:t>
            </a:r>
          </a:p>
          <a:p>
            <a:pPr marL="0" indent="0" algn="just">
              <a:lnSpc>
                <a:spcPct val="150000"/>
              </a:lnSpc>
              <a:buNone/>
            </a:pPr>
            <a:br>
              <a:rPr lang="en-US" sz="3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core idea is to build a unified system that not only monitors performance but also predicts risks and supports students through adaptive guidance and smart interventions.</a:t>
            </a: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7D8A75D0-8879-9E08-F4E6-5E90CC05070A}"/>
              </a:ext>
            </a:extLst>
          </p:cNvPr>
          <p:cNvSpPr>
            <a:spLocks noGrp="1"/>
          </p:cNvSpPr>
          <p:nvPr>
            <p:ph type="ftr" sz="quarter" idx="11"/>
          </p:nvPr>
        </p:nvSpPr>
        <p:spPr>
          <a:xfrm>
            <a:off x="3767328" y="6345936"/>
            <a:ext cx="4386072" cy="375539"/>
          </a:xfrm>
        </p:spPr>
        <p:txBody>
          <a:bodyPr/>
          <a:lstStyle/>
          <a:p>
            <a:r>
              <a:rPr lang="en-US" dirty="0" err="1"/>
              <a:t>EduSphere</a:t>
            </a:r>
            <a:r>
              <a:rPr lang="en-US" dirty="0"/>
              <a:t>:  AI-Powered Student Lifecycle Management Ecosystem</a:t>
            </a:r>
            <a:endParaRPr lang="en-IN" dirty="0"/>
          </a:p>
        </p:txBody>
      </p:sp>
    </p:spTree>
    <p:extLst>
      <p:ext uri="{BB962C8B-B14F-4D97-AF65-F5344CB8AC3E}">
        <p14:creationId xmlns:p14="http://schemas.microsoft.com/office/powerpoint/2010/main" val="2517624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27"/>
            <a:ext cx="10515600" cy="1325563"/>
          </a:xfrm>
        </p:spPr>
        <p:txBody>
          <a:bodyPr/>
          <a:lstStyle/>
          <a:p>
            <a:pPr algn="ctr"/>
            <a:r>
              <a:rPr lang="en-US"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Literature Survey</a:t>
            </a:r>
            <a:endParaRPr lang="en-IN"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sp>
        <p:nvSpPr>
          <p:cNvPr id="3" name="Content Placeholder 2"/>
          <p:cNvSpPr>
            <a:spLocks noGrp="1"/>
          </p:cNvSpPr>
          <p:nvPr>
            <p:ph idx="1"/>
          </p:nvPr>
        </p:nvSpPr>
        <p:spPr>
          <a:xfrm>
            <a:off x="714375" y="1402287"/>
            <a:ext cx="10515600" cy="4762833"/>
          </a:xfrm>
        </p:spPr>
        <p:txBody>
          <a:bodyPr>
            <a:normAutofit/>
          </a:bodyPr>
          <a:lstStyle/>
          <a:p>
            <a:pPr algn="just"/>
            <a:r>
              <a:rPr lang="en-US" sz="2400" dirty="0">
                <a:latin typeface="Times New Roman" panose="02020603050405020304" pitchFamily="18" charset="0"/>
                <a:cs typeface="Times New Roman" panose="02020603050405020304" pitchFamily="18" charset="0"/>
              </a:rPr>
              <a:t>Recent IEEE work shows that intelligent tutoring systems are becoming more effective when they combine learner modeling, adaptive assessment, and multi-source academic data.</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Learning analytics research also emphasizes the importance of tracking progression, engagement, and performance patterns to support timely academic decisions and student success.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e-learning systems, personalization, quiz support, and feedback-driven interaction are repeatedly identified as major factors that improve learner experience and completion outcomes.</a:t>
            </a:r>
            <a:endParaRPr lang="en-US" sz="24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5" name="Footer Placeholder 4"/>
          <p:cNvSpPr>
            <a:spLocks noGrp="1"/>
          </p:cNvSpPr>
          <p:nvPr>
            <p:ph type="ftr" sz="quarter" idx="11"/>
          </p:nvPr>
        </p:nvSpPr>
        <p:spPr>
          <a:xfrm>
            <a:off x="3767328" y="6373368"/>
            <a:ext cx="4386072" cy="348107"/>
          </a:xfrm>
        </p:spPr>
        <p:txBody>
          <a:bodyPr/>
          <a:lstStyle/>
          <a:p>
            <a:r>
              <a:rPr lang="en-US" dirty="0" err="1"/>
              <a:t>EduSphere</a:t>
            </a:r>
            <a:r>
              <a:rPr lang="en-US" dirty="0"/>
              <a:t>:  AI-Powered Student Lifecycle Management Ecosystem</a:t>
            </a:r>
          </a:p>
        </p:txBody>
      </p:sp>
    </p:spTree>
    <p:extLst>
      <p:ext uri="{BB962C8B-B14F-4D97-AF65-F5344CB8AC3E}">
        <p14:creationId xmlns:p14="http://schemas.microsoft.com/office/powerpoint/2010/main" val="1711633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E934F-3BA4-2769-5C3D-D96715A4B2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20E1AB-B72C-60EB-4508-825F066C07F1}"/>
              </a:ext>
            </a:extLst>
          </p:cNvPr>
          <p:cNvSpPr>
            <a:spLocks noGrp="1"/>
          </p:cNvSpPr>
          <p:nvPr>
            <p:ph type="title"/>
          </p:nvPr>
        </p:nvSpPr>
        <p:spPr>
          <a:xfrm>
            <a:off x="838200" y="0"/>
            <a:ext cx="10515600" cy="599607"/>
          </a:xfrm>
        </p:spPr>
        <p:txBody>
          <a:bodyPr>
            <a:normAutofit fontScale="90000"/>
          </a:bodyPr>
          <a:lstStyle/>
          <a:p>
            <a:pPr algn="ctr"/>
            <a:r>
              <a:rPr lang="en-US"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Literature Survey</a:t>
            </a:r>
            <a:endParaRPr lang="en-IN"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endParaRPr>
          </a:p>
        </p:txBody>
      </p:sp>
      <p:graphicFrame>
        <p:nvGraphicFramePr>
          <p:cNvPr id="7" name="Content Placeholder 6">
            <a:extLst>
              <a:ext uri="{FF2B5EF4-FFF2-40B4-BE49-F238E27FC236}">
                <a16:creationId xmlns:a16="http://schemas.microsoft.com/office/drawing/2014/main" id="{092B277F-DB2E-C2A8-55D4-A967B65B7F85}"/>
              </a:ext>
            </a:extLst>
          </p:cNvPr>
          <p:cNvGraphicFramePr>
            <a:graphicFrameLocks noGrp="1"/>
          </p:cNvGraphicFramePr>
          <p:nvPr>
            <p:ph idx="1"/>
            <p:extLst>
              <p:ext uri="{D42A27DB-BD31-4B8C-83A1-F6EECF244321}">
                <p14:modId xmlns:p14="http://schemas.microsoft.com/office/powerpoint/2010/main" val="2505158817"/>
              </p:ext>
            </p:extLst>
          </p:nvPr>
        </p:nvGraphicFramePr>
        <p:xfrm>
          <a:off x="0" y="599607"/>
          <a:ext cx="12192000" cy="5801905"/>
        </p:xfrm>
        <a:graphic>
          <a:graphicData uri="http://schemas.openxmlformats.org/drawingml/2006/table">
            <a:tbl>
              <a:tblPr firstRow="1" firstCol="1" lastRow="1" lastCol="1" bandRow="1" bandCol="1">
                <a:tableStyleId>{5940675A-B579-460E-94D1-54222C63F5DA}</a:tableStyleId>
              </a:tblPr>
              <a:tblGrid>
                <a:gridCol w="1550931">
                  <a:extLst>
                    <a:ext uri="{9D8B030D-6E8A-4147-A177-3AD203B41FA5}">
                      <a16:colId xmlns:a16="http://schemas.microsoft.com/office/drawing/2014/main" val="2336366649"/>
                    </a:ext>
                  </a:extLst>
                </a:gridCol>
                <a:gridCol w="1687128">
                  <a:extLst>
                    <a:ext uri="{9D8B030D-6E8A-4147-A177-3AD203B41FA5}">
                      <a16:colId xmlns:a16="http://schemas.microsoft.com/office/drawing/2014/main" val="3723295313"/>
                    </a:ext>
                  </a:extLst>
                </a:gridCol>
                <a:gridCol w="1687128">
                  <a:extLst>
                    <a:ext uri="{9D8B030D-6E8A-4147-A177-3AD203B41FA5}">
                      <a16:colId xmlns:a16="http://schemas.microsoft.com/office/drawing/2014/main" val="2848587586"/>
                    </a:ext>
                  </a:extLst>
                </a:gridCol>
                <a:gridCol w="1635763">
                  <a:extLst>
                    <a:ext uri="{9D8B030D-6E8A-4147-A177-3AD203B41FA5}">
                      <a16:colId xmlns:a16="http://schemas.microsoft.com/office/drawing/2014/main" val="926292042"/>
                    </a:ext>
                  </a:extLst>
                </a:gridCol>
                <a:gridCol w="1844520">
                  <a:extLst>
                    <a:ext uri="{9D8B030D-6E8A-4147-A177-3AD203B41FA5}">
                      <a16:colId xmlns:a16="http://schemas.microsoft.com/office/drawing/2014/main" val="1392023254"/>
                    </a:ext>
                  </a:extLst>
                </a:gridCol>
                <a:gridCol w="1565107">
                  <a:extLst>
                    <a:ext uri="{9D8B030D-6E8A-4147-A177-3AD203B41FA5}">
                      <a16:colId xmlns:a16="http://schemas.microsoft.com/office/drawing/2014/main" val="3304815610"/>
                    </a:ext>
                  </a:extLst>
                </a:gridCol>
                <a:gridCol w="2221423">
                  <a:extLst>
                    <a:ext uri="{9D8B030D-6E8A-4147-A177-3AD203B41FA5}">
                      <a16:colId xmlns:a16="http://schemas.microsoft.com/office/drawing/2014/main" val="942098127"/>
                    </a:ext>
                  </a:extLst>
                </a:gridCol>
              </a:tblGrid>
              <a:tr h="778573">
                <a:tc>
                  <a:txBody>
                    <a:bodyPr/>
                    <a:lstStyle/>
                    <a:p>
                      <a:pPr marL="186690" indent="92710">
                        <a:lnSpc>
                          <a:spcPct val="103000"/>
                        </a:lnSpc>
                        <a:spcBef>
                          <a:spcPts val="2305"/>
                        </a:spcBef>
                        <a:buNone/>
                      </a:pP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Feature / </a:t>
                      </a:r>
                      <a:r>
                        <a:rPr lang="en-US" sz="1500" b="1" spc="-10" dirty="0">
                          <a:effectLst/>
                          <a:latin typeface="Times New Roman" panose="02020603050405020304" pitchFamily="18" charset="0"/>
                          <a:ea typeface="Calibri" panose="020F0502020204030204" pitchFamily="34" charset="0"/>
                          <a:cs typeface="Times New Roman" panose="02020603050405020304" pitchFamily="18" charset="0"/>
                        </a:rPr>
                        <a:t>Parameter</a:t>
                      </a:r>
                      <a:endParaRPr lang="en-IN" sz="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112395" indent="0" algn="ctr" defTabSz="914400" rtl="0" eaLnBrk="1" latinLnBrk="0" hangingPunct="1">
                        <a:lnSpc>
                          <a:spcPct val="100000"/>
                        </a:lnSpc>
                        <a:spcBef>
                          <a:spcPts val="0"/>
                        </a:spcBef>
                        <a:buNone/>
                      </a:pPr>
                      <a:r>
                        <a:rPr lang="en-US" sz="1400" b="1" kern="1200" spc="-2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Base </a:t>
                      </a:r>
                    </a:p>
                    <a:p>
                      <a:pPr marL="0" marR="112395" indent="0" algn="ctr" defTabSz="914400" rtl="0" eaLnBrk="1" latinLnBrk="0" hangingPunct="1">
                        <a:lnSpc>
                          <a:spcPct val="100000"/>
                        </a:lnSpc>
                        <a:spcBef>
                          <a:spcPts val="0"/>
                        </a:spcBef>
                        <a:buNone/>
                      </a:pPr>
                      <a:r>
                        <a:rPr lang="en-US" sz="1400" b="1" kern="1200" spc="-2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Document 1</a:t>
                      </a:r>
                      <a:endParaRPr lang="en-IN" sz="1400" b="1" kern="1200" spc="-2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indent="0" algn="ctr">
                        <a:lnSpc>
                          <a:spcPct val="100000"/>
                        </a:lnSpc>
                        <a:spcBef>
                          <a:spcPts val="0"/>
                        </a:spcBef>
                        <a:buNone/>
                      </a:pPr>
                      <a:r>
                        <a:rPr lang="en-US" sz="1500" b="1" spc="-20" dirty="0">
                          <a:effectLst/>
                          <a:latin typeface="Times New Roman" panose="02020603050405020304" pitchFamily="18" charset="0"/>
                          <a:ea typeface="Calibri" panose="020F0502020204030204" pitchFamily="34" charset="0"/>
                          <a:cs typeface="Times New Roman" panose="02020603050405020304" pitchFamily="18" charset="0"/>
                        </a:rPr>
                        <a:t>Base </a:t>
                      </a:r>
                    </a:p>
                    <a:p>
                      <a:pPr marL="0" indent="0" algn="ctr">
                        <a:lnSpc>
                          <a:spcPct val="100000"/>
                        </a:lnSpc>
                        <a:spcBef>
                          <a:spcPts val="0"/>
                        </a:spcBef>
                        <a:buNone/>
                      </a:pP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Document</a:t>
                      </a:r>
                      <a:r>
                        <a:rPr lang="en-US" sz="1500" b="1" spc="-125" dirty="0">
                          <a:effectLst/>
                          <a:latin typeface="Times New Roman" panose="02020603050405020304" pitchFamily="18" charset="0"/>
                          <a:ea typeface="Calibri" panose="020F0502020204030204" pitchFamily="34" charset="0"/>
                          <a:cs typeface="Times New Roman" panose="02020603050405020304" pitchFamily="18" charset="0"/>
                        </a:rPr>
                        <a:t> 2</a:t>
                      </a:r>
                      <a:endParaRPr lang="en-IN" sz="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112395" indent="0" algn="ctr">
                        <a:lnSpc>
                          <a:spcPct val="100000"/>
                        </a:lnSpc>
                        <a:spcBef>
                          <a:spcPts val="0"/>
                        </a:spcBef>
                        <a:buNone/>
                      </a:pPr>
                      <a:r>
                        <a:rPr lang="en-US" sz="1400" b="1" spc="-20" dirty="0">
                          <a:effectLst/>
                          <a:latin typeface="Times New Roman" panose="02020603050405020304" pitchFamily="18" charset="0"/>
                          <a:ea typeface="Calibri" panose="020F0502020204030204" pitchFamily="34" charset="0"/>
                          <a:cs typeface="Times New Roman" panose="02020603050405020304" pitchFamily="18" charset="0"/>
                        </a:rPr>
                        <a:t>Base </a:t>
                      </a:r>
                    </a:p>
                    <a:p>
                      <a:pPr marL="0" marR="112395" indent="0" algn="ctr">
                        <a:lnSpc>
                          <a:spcPct val="100000"/>
                        </a:lnSpc>
                        <a:spcBef>
                          <a:spcPts val="0"/>
                        </a:spcBef>
                        <a:buNone/>
                      </a:pP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Document</a:t>
                      </a:r>
                      <a:r>
                        <a:rPr lang="en-US" sz="1400" b="1" spc="-1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3</a:t>
                      </a:r>
                      <a:endParaRPr lang="en-IN" sz="7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indent="0" algn="ctr">
                        <a:lnSpc>
                          <a:spcPct val="100000"/>
                        </a:lnSpc>
                        <a:spcBef>
                          <a:spcPts val="0"/>
                        </a:spcBef>
                        <a:buNone/>
                      </a:pPr>
                      <a:r>
                        <a:rPr lang="en-US" sz="1500" b="1" spc="-20" dirty="0">
                          <a:effectLst/>
                          <a:latin typeface="Times New Roman" panose="02020603050405020304" pitchFamily="18" charset="0"/>
                          <a:ea typeface="Calibri" panose="020F0502020204030204" pitchFamily="34" charset="0"/>
                          <a:cs typeface="Times New Roman" panose="02020603050405020304" pitchFamily="18" charset="0"/>
                        </a:rPr>
                        <a:t>Base </a:t>
                      </a:r>
                    </a:p>
                    <a:p>
                      <a:pPr marL="0" indent="0" algn="ctr">
                        <a:lnSpc>
                          <a:spcPct val="100000"/>
                        </a:lnSpc>
                        <a:spcBef>
                          <a:spcPts val="0"/>
                        </a:spcBef>
                        <a:buNone/>
                      </a:pP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Document</a:t>
                      </a:r>
                      <a:r>
                        <a:rPr lang="en-US" sz="1500" b="1" spc="-1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4</a:t>
                      </a:r>
                      <a:endParaRPr lang="en-IN" sz="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135890" marR="66675" indent="-2540" algn="ctr">
                        <a:lnSpc>
                          <a:spcPct val="100000"/>
                        </a:lnSpc>
                        <a:spcBef>
                          <a:spcPts val="1105"/>
                        </a:spcBef>
                        <a:buNone/>
                      </a:pPr>
                      <a:r>
                        <a:rPr lang="en-US" sz="1500" b="1" spc="-10" dirty="0">
                          <a:effectLst/>
                          <a:latin typeface="Times New Roman" panose="02020603050405020304" pitchFamily="18" charset="0"/>
                          <a:ea typeface="Calibri" panose="020F0502020204030204" pitchFamily="34" charset="0"/>
                          <a:cs typeface="Times New Roman" panose="02020603050405020304" pitchFamily="18" charset="0"/>
                        </a:rPr>
                        <a:t>Observed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Gap / </a:t>
                      </a:r>
                      <a:r>
                        <a:rPr lang="en-US" sz="1500" b="1" spc="-10" dirty="0">
                          <a:effectLst/>
                          <a:latin typeface="Times New Roman" panose="02020603050405020304" pitchFamily="18" charset="0"/>
                          <a:ea typeface="Calibri" panose="020F0502020204030204" pitchFamily="34" charset="0"/>
                          <a:cs typeface="Times New Roman" panose="02020603050405020304" pitchFamily="18" charset="0"/>
                        </a:rPr>
                        <a:t>Limitation</a:t>
                      </a:r>
                      <a:endParaRPr lang="en-IN" sz="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260985" marR="191770" indent="-635" algn="ctr">
                        <a:lnSpc>
                          <a:spcPct val="103000"/>
                        </a:lnSpc>
                        <a:spcBef>
                          <a:spcPts val="1105"/>
                        </a:spcBef>
                        <a:buNone/>
                      </a:pPr>
                      <a:r>
                        <a:rPr lang="en-US" sz="1500" b="1" spc="-10" dirty="0">
                          <a:effectLst/>
                          <a:latin typeface="Times New Roman" panose="02020603050405020304" pitchFamily="18" charset="0"/>
                          <a:ea typeface="Calibri" panose="020F0502020204030204" pitchFamily="34" charset="0"/>
                          <a:cs typeface="Times New Roman" panose="02020603050405020304" pitchFamily="18" charset="0"/>
                        </a:rPr>
                        <a:t>Proposed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Modification</a:t>
                      </a:r>
                      <a:r>
                        <a:rPr lang="en-US" sz="1500" b="1" spc="-125"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500" b="1" spc="-10" dirty="0">
                          <a:effectLst/>
                          <a:latin typeface="Times New Roman" panose="02020603050405020304" pitchFamily="18" charset="0"/>
                          <a:ea typeface="Calibri" panose="020F0502020204030204" pitchFamily="34" charset="0"/>
                          <a:cs typeface="Times New Roman" panose="02020603050405020304" pitchFamily="18" charset="0"/>
                        </a:rPr>
                        <a:t>Improvement</a:t>
                      </a:r>
                      <a:endParaRPr lang="en-IN" sz="8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extLst>
                  <a:ext uri="{0D108BD9-81ED-4DB2-BD59-A6C34878D82A}">
                    <a16:rowId xmlns:a16="http://schemas.microsoft.com/office/drawing/2014/main" val="2507750284"/>
                  </a:ext>
                </a:extLst>
              </a:tr>
              <a:tr h="1875079">
                <a:tc>
                  <a:txBody>
                    <a:bodyPr/>
                    <a:lstStyle/>
                    <a:p>
                      <a:pPr marL="185738" indent="-185738" algn="l" defTabSz="914400" rtl="0" eaLnBrk="1" fontAlgn="base" latinLnBrk="0" hangingPunct="1">
                        <a:lnSpc>
                          <a:spcPct val="103000"/>
                        </a:lnSpc>
                        <a:spcBef>
                          <a:spcPts val="2305"/>
                        </a:spcBef>
                        <a:buNone/>
                      </a:pPr>
                      <a:r>
                        <a:rPr lang="en-US" sz="1500" b="1" kern="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Title of Paper</a:t>
                      </a:r>
                    </a:p>
                  </a:txBody>
                  <a:tcPr marL="0" marR="0" marT="0" marB="0"/>
                </a:tc>
                <a:tc>
                  <a:txBody>
                    <a:bodyPr/>
                    <a:lstStyle/>
                    <a:p>
                      <a:pPr marL="0" marR="112395"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kern="1200" spc="-2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Towards a Learning Analytics Support for Intelligent Tutoring Systems on MOOC Platforms</a:t>
                      </a:r>
                    </a:p>
                    <a:p>
                      <a:pPr marL="0" marR="112395"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N" sz="1400" b="1" kern="1200" spc="-2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Minimal Invasive Integration of Learning Analytics Services in Intelligent Tutoring Systems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N" sz="900" b="0" kern="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Empowering Student Learning in Intelligent Tutoring Systems: Building a Comprehensive Learner Model With Feedback From Students, Parents, and Instructors</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Enhancing learners' experience in e-learning based scenarios using Intelligent tutoring systems and learning analytics: First results from a perception survey</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Existing works focus on specific subsystems, not a full academic-career ecosystem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Integrate analytics, tutoring, prediction, placement readiness, and recommendations in one </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EduSphere</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platform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extLst>
                  <a:ext uri="{0D108BD9-81ED-4DB2-BD59-A6C34878D82A}">
                    <a16:rowId xmlns:a16="http://schemas.microsoft.com/office/drawing/2014/main" val="682835446"/>
                  </a:ext>
                </a:extLst>
              </a:tr>
              <a:tr h="1538462">
                <a:tc>
                  <a:txBody>
                    <a:bodyPr/>
                    <a:lstStyle/>
                    <a:p>
                      <a:pPr marL="93663" indent="0" algn="l" defTabSz="914400" rtl="0" eaLnBrk="1" fontAlgn="base" latinLnBrk="0" hangingPunct="1">
                        <a:lnSpc>
                          <a:spcPct val="103000"/>
                        </a:lnSpc>
                        <a:spcBef>
                          <a:spcPts val="2305"/>
                        </a:spcBef>
                        <a:buNone/>
                      </a:pPr>
                      <a:r>
                        <a:rPr lang="en-US" sz="1500" b="1" kern="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Idea of the paper​</a:t>
                      </a: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Supports intelligent learning platforms using analytics on student progression and platform behavior</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Adds learning analytics services to systems with predictive support for learning problems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Builds learner models using multiple assessment sources for personalized tutoring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Improves e-learning experience using ITS-based evaluation and feedback mechanisms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Most papers emphasize either analytics or tutoring, but not campus-wide personalization</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Combine learner model, activity analytics, AI tutor, and predictive engines into a single AI core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extLst>
                  <a:ext uri="{0D108BD9-81ED-4DB2-BD59-A6C34878D82A}">
                    <a16:rowId xmlns:a16="http://schemas.microsoft.com/office/drawing/2014/main" val="3260392132"/>
                  </a:ext>
                </a:extLst>
              </a:tr>
              <a:tr h="1564630">
                <a:tc>
                  <a:txBody>
                    <a:bodyPr/>
                    <a:lstStyle/>
                    <a:p>
                      <a:pPr marL="93663" indent="0" algn="l" defTabSz="914400" rtl="0" eaLnBrk="1" fontAlgn="base" latinLnBrk="0" hangingPunct="1">
                        <a:lnSpc>
                          <a:spcPct val="103000"/>
                        </a:lnSpc>
                        <a:spcBef>
                          <a:spcPts val="2305"/>
                        </a:spcBef>
                        <a:buNone/>
                      </a:pPr>
                      <a:r>
                        <a:rPr lang="en-IN" sz="1500" b="1" kern="12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Inferences Observed</a:t>
                      </a: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Student progress data can guide timely academic intervention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Predictive analytics can improve academic support services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Multi-source learner modeling improves personalization quality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Interactive feedback improves engagement and learning flow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Lack of integration with resume, placement, productivity, and collaboration modules</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Extend the model to include placement prediction, skill gap analysis, study planning, and digital twin guidance </a:t>
                      </a:r>
                      <a:endParaRPr lang="en-IN" sz="1400" b="0" i="0" kern="12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0" marB="0"/>
                </a:tc>
                <a:extLst>
                  <a:ext uri="{0D108BD9-81ED-4DB2-BD59-A6C34878D82A}">
                    <a16:rowId xmlns:a16="http://schemas.microsoft.com/office/drawing/2014/main" val="90197264"/>
                  </a:ext>
                </a:extLst>
              </a:tr>
            </a:tbl>
          </a:graphicData>
        </a:graphic>
      </p:graphicFrame>
      <p:sp>
        <p:nvSpPr>
          <p:cNvPr id="8" name="Footer Placeholder 7">
            <a:extLst>
              <a:ext uri="{FF2B5EF4-FFF2-40B4-BE49-F238E27FC236}">
                <a16:creationId xmlns:a16="http://schemas.microsoft.com/office/drawing/2014/main" id="{E935F933-6111-165E-127F-4D1BDEDB39B7}"/>
              </a:ext>
            </a:extLst>
          </p:cNvPr>
          <p:cNvSpPr>
            <a:spLocks noGrp="1"/>
          </p:cNvSpPr>
          <p:nvPr>
            <p:ph type="ftr" sz="quarter" idx="11"/>
          </p:nvPr>
        </p:nvSpPr>
        <p:spPr>
          <a:xfrm>
            <a:off x="3685032" y="6466079"/>
            <a:ext cx="4450080" cy="300482"/>
          </a:xfrm>
        </p:spPr>
        <p:txBody>
          <a:bodyPr/>
          <a:lstStyle/>
          <a:p>
            <a:r>
              <a:rPr lang="en-US" dirty="0" err="1"/>
              <a:t>EduSphere</a:t>
            </a:r>
            <a:r>
              <a:rPr lang="en-US" dirty="0"/>
              <a:t>:  AI-Powered Student Lifecycle Management Ecosystem</a:t>
            </a:r>
            <a:endParaRPr lang="en-IN" dirty="0"/>
          </a:p>
        </p:txBody>
      </p:sp>
    </p:spTree>
    <p:extLst>
      <p:ext uri="{BB962C8B-B14F-4D97-AF65-F5344CB8AC3E}">
        <p14:creationId xmlns:p14="http://schemas.microsoft.com/office/powerpoint/2010/main" val="8141553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0C91B-5610-9681-4553-70DEA1399E2B}"/>
              </a:ext>
            </a:extLst>
          </p:cNvPr>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Problem statement</a:t>
            </a:r>
            <a:br>
              <a:rPr lang="en-IN" dirty="0"/>
            </a:br>
            <a:endParaRPr lang="en-IN" dirty="0"/>
          </a:p>
        </p:txBody>
      </p:sp>
      <p:sp>
        <p:nvSpPr>
          <p:cNvPr id="3" name="Content Placeholder 2">
            <a:extLst>
              <a:ext uri="{FF2B5EF4-FFF2-40B4-BE49-F238E27FC236}">
                <a16:creationId xmlns:a16="http://schemas.microsoft.com/office/drawing/2014/main" id="{812CCB2B-F6A6-63D8-950F-A2C0A33F7F7D}"/>
              </a:ext>
            </a:extLst>
          </p:cNvPr>
          <p:cNvSpPr>
            <a:spLocks noGrp="1"/>
          </p:cNvSpPr>
          <p:nvPr>
            <p:ph idx="1"/>
          </p:nvPr>
        </p:nvSpPr>
        <p:spPr>
          <a:xfrm>
            <a:off x="0" y="1422503"/>
            <a:ext cx="12192000" cy="4351338"/>
          </a:xfrm>
        </p:spPr>
        <p:txBody>
          <a:bodyPr>
            <a:normAutofit/>
          </a:bodyPr>
          <a:lstStyle/>
          <a:p>
            <a:pPr algn="just"/>
            <a:r>
              <a:rPr lang="en-US" sz="2600" dirty="0">
                <a:latin typeface="Times New Roman" panose="02020603050405020304" pitchFamily="18" charset="0"/>
                <a:cs typeface="Times New Roman" panose="02020603050405020304" pitchFamily="18" charset="0"/>
              </a:rPr>
              <a:t>Current student platforms are mostly fragmented, where attendance, assignments, coding practice, assessments, career preparation, and mentoring are handled through separate tools.</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Because of this fragmentation, institutions often fail to generate unified insights about student learning behavior, academic risk, skill development, and placement readiness.</a:t>
            </a:r>
          </a:p>
          <a:p>
            <a:pPr marL="0" indent="0" algn="just">
              <a:buNone/>
            </a:pPr>
            <a:endParaRPr lang="en-US" sz="2600" dirty="0">
              <a:latin typeface="Times New Roman" panose="02020603050405020304" pitchFamily="18" charset="0"/>
              <a:cs typeface="Times New Roman" panose="02020603050405020304" pitchFamily="18" charset="0"/>
            </a:endParaRPr>
          </a:p>
          <a:p>
            <a:pPr algn="just"/>
            <a:r>
              <a:rPr lang="en-US" sz="2600" dirty="0">
                <a:latin typeface="Times New Roman" panose="02020603050405020304" pitchFamily="18" charset="0"/>
                <a:cs typeface="Times New Roman" panose="02020603050405020304" pitchFamily="18" charset="0"/>
              </a:rPr>
              <a:t>There is a need for a centralized AI-based platform that continuously analyzes student activity and provides personalized academic, learning, and career support.</a:t>
            </a:r>
            <a:endParaRPr lang="en-IN" sz="2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F2F0EDA-101C-E492-DB40-5343AEFAF3DF}"/>
              </a:ext>
            </a:extLst>
          </p:cNvPr>
          <p:cNvSpPr>
            <a:spLocks noGrp="1"/>
          </p:cNvSpPr>
          <p:nvPr>
            <p:ph type="ftr" sz="quarter" idx="11"/>
          </p:nvPr>
        </p:nvSpPr>
        <p:spPr/>
        <p:txBody>
          <a:bodyPr/>
          <a:lstStyle/>
          <a:p>
            <a:r>
              <a:rPr lang="en-US"/>
              <a:t>EduSphere:  AI-Powered Student Lifecycle Management Ecosystem</a:t>
            </a:r>
            <a:endParaRPr lang="en-IN"/>
          </a:p>
        </p:txBody>
      </p:sp>
    </p:spTree>
    <p:extLst>
      <p:ext uri="{BB962C8B-B14F-4D97-AF65-F5344CB8AC3E}">
        <p14:creationId xmlns:p14="http://schemas.microsoft.com/office/powerpoint/2010/main" val="133973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74CDA-30CB-7871-408F-05F34D16D9B6}"/>
              </a:ext>
            </a:extLst>
          </p:cNvPr>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Objective of the Project</a:t>
            </a:r>
            <a:br>
              <a:rPr lang="en-IN" dirty="0">
                <a:solidFill>
                  <a:srgbClr val="FF0000"/>
                </a:solidFill>
              </a:rPr>
            </a:br>
            <a:endParaRPr lang="en-IN" dirty="0">
              <a:solidFill>
                <a:srgbClr val="FF0000"/>
              </a:solidFill>
            </a:endParaRPr>
          </a:p>
        </p:txBody>
      </p:sp>
      <p:sp>
        <p:nvSpPr>
          <p:cNvPr id="4" name="Footer Placeholder 3">
            <a:extLst>
              <a:ext uri="{FF2B5EF4-FFF2-40B4-BE49-F238E27FC236}">
                <a16:creationId xmlns:a16="http://schemas.microsoft.com/office/drawing/2014/main" id="{F5D95436-2A45-A442-81D1-5C8DD14FF0BD}"/>
              </a:ext>
            </a:extLst>
          </p:cNvPr>
          <p:cNvSpPr>
            <a:spLocks noGrp="1"/>
          </p:cNvSpPr>
          <p:nvPr>
            <p:ph type="ftr" sz="quarter" idx="11"/>
          </p:nvPr>
        </p:nvSpPr>
        <p:spPr>
          <a:xfrm>
            <a:off x="3936492" y="6492875"/>
            <a:ext cx="4319016" cy="327914"/>
          </a:xfrm>
        </p:spPr>
        <p:txBody>
          <a:bodyPr/>
          <a:lstStyle/>
          <a:p>
            <a:r>
              <a:rPr lang="en-US" dirty="0" err="1"/>
              <a:t>EduSphere</a:t>
            </a:r>
            <a:r>
              <a:rPr lang="en-US" dirty="0"/>
              <a:t>:  AI-Powered Student Lifecycle Management Ecosystem</a:t>
            </a:r>
            <a:endParaRPr lang="en-IN" dirty="0"/>
          </a:p>
        </p:txBody>
      </p:sp>
      <p:sp>
        <p:nvSpPr>
          <p:cNvPr id="5" name="Rectangle 1"/>
          <p:cNvSpPr>
            <a:spLocks noGrp="1" noChangeArrowheads="1"/>
          </p:cNvSpPr>
          <p:nvPr>
            <p:ph idx="1"/>
          </p:nvPr>
        </p:nvSpPr>
        <p:spPr bwMode="auto">
          <a:xfrm>
            <a:off x="308138" y="1027906"/>
            <a:ext cx="11575723" cy="556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design and develop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EduSphere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an integrated student intelligence platform combining academic, career, collaboration, and analytics modules.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track academic indicators such as attendance, assignments, quizzes, coding activity, study time, and login behavior for continuous monitoring.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apply learning analytics for identifying weak areas, engagement patterns, and at-risk students.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provide personalized tutoring, recommendations, and learning support using intelligent learner modeling.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improve placement readiness through resume analysis, skill analysis, and career guidance.</a:t>
            </a:r>
          </a:p>
        </p:txBody>
      </p:sp>
    </p:spTree>
    <p:extLst>
      <p:ext uri="{BB962C8B-B14F-4D97-AF65-F5344CB8AC3E}">
        <p14:creationId xmlns:p14="http://schemas.microsoft.com/office/powerpoint/2010/main" val="2891041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0BD6C-9806-B36A-A3B2-14E6037ABAFD}"/>
              </a:ext>
            </a:extLst>
          </p:cNvPr>
          <p:cNvSpPr>
            <a:spLocks noGrp="1"/>
          </p:cNvSpPr>
          <p:nvPr>
            <p:ph type="title"/>
          </p:nvPr>
        </p:nvSpPr>
        <p:spPr>
          <a:xfrm>
            <a:off x="838200" y="-28067"/>
            <a:ext cx="10515600" cy="1325563"/>
          </a:xfrm>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Novelty of the work</a:t>
            </a:r>
            <a:br>
              <a:rPr lang="en-IN" dirty="0"/>
            </a:br>
            <a:endParaRPr lang="en-IN" dirty="0"/>
          </a:p>
        </p:txBody>
      </p:sp>
      <p:sp>
        <p:nvSpPr>
          <p:cNvPr id="4" name="Footer Placeholder 3">
            <a:extLst>
              <a:ext uri="{FF2B5EF4-FFF2-40B4-BE49-F238E27FC236}">
                <a16:creationId xmlns:a16="http://schemas.microsoft.com/office/drawing/2014/main" id="{05CB5C7C-4E44-1F7A-4890-AD3982568B47}"/>
              </a:ext>
            </a:extLst>
          </p:cNvPr>
          <p:cNvSpPr>
            <a:spLocks noGrp="1"/>
          </p:cNvSpPr>
          <p:nvPr>
            <p:ph type="ftr" sz="quarter" idx="11"/>
          </p:nvPr>
        </p:nvSpPr>
        <p:spPr>
          <a:xfrm>
            <a:off x="3621024" y="6438523"/>
            <a:ext cx="4596384" cy="346202"/>
          </a:xfrm>
        </p:spPr>
        <p:txBody>
          <a:bodyPr/>
          <a:lstStyle/>
          <a:p>
            <a:r>
              <a:rPr lang="en-US" dirty="0" err="1"/>
              <a:t>EduSphere</a:t>
            </a:r>
            <a:r>
              <a:rPr lang="en-US" dirty="0"/>
              <a:t>:  AI-Powered Student Lifecycle Management Ecosystem</a:t>
            </a:r>
            <a:endParaRPr lang="en-IN" dirty="0"/>
          </a:p>
        </p:txBody>
      </p:sp>
      <p:graphicFrame>
        <p:nvGraphicFramePr>
          <p:cNvPr id="3" name="Table 2">
            <a:extLst>
              <a:ext uri="{FF2B5EF4-FFF2-40B4-BE49-F238E27FC236}">
                <a16:creationId xmlns:a16="http://schemas.microsoft.com/office/drawing/2014/main" id="{CCF1F93D-98AD-0FCA-3F89-35683FA6AADA}"/>
              </a:ext>
            </a:extLst>
          </p:cNvPr>
          <p:cNvGraphicFramePr>
            <a:graphicFrameLocks noGrp="1"/>
          </p:cNvGraphicFramePr>
          <p:nvPr>
            <p:extLst>
              <p:ext uri="{D42A27DB-BD31-4B8C-83A1-F6EECF244321}">
                <p14:modId xmlns:p14="http://schemas.microsoft.com/office/powerpoint/2010/main" val="4090439064"/>
              </p:ext>
            </p:extLst>
          </p:nvPr>
        </p:nvGraphicFramePr>
        <p:xfrm>
          <a:off x="0" y="823563"/>
          <a:ext cx="12192000" cy="5614960"/>
        </p:xfrm>
        <a:graphic>
          <a:graphicData uri="http://schemas.openxmlformats.org/drawingml/2006/table">
            <a:tbl>
              <a:tblPr>
                <a:tableStyleId>{616DA210-FB5B-4158-B5E0-FEB733F419BA}</a:tableStyleId>
              </a:tblPr>
              <a:tblGrid>
                <a:gridCol w="6096000">
                  <a:extLst>
                    <a:ext uri="{9D8B030D-6E8A-4147-A177-3AD203B41FA5}">
                      <a16:colId xmlns:a16="http://schemas.microsoft.com/office/drawing/2014/main" val="534365333"/>
                    </a:ext>
                  </a:extLst>
                </a:gridCol>
                <a:gridCol w="6096000">
                  <a:extLst>
                    <a:ext uri="{9D8B030D-6E8A-4147-A177-3AD203B41FA5}">
                      <a16:colId xmlns:a16="http://schemas.microsoft.com/office/drawing/2014/main" val="296522082"/>
                    </a:ext>
                  </a:extLst>
                </a:gridCol>
              </a:tblGrid>
              <a:tr h="334718">
                <a:tc>
                  <a:txBody>
                    <a:bodyPr/>
                    <a:lstStyle/>
                    <a:p>
                      <a:pPr algn="ctr">
                        <a:buNone/>
                      </a:pPr>
                      <a:r>
                        <a:rPr kumimoji="0" lang="en-IN" sz="2200" b="1"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Existing Student Platforms</a:t>
                      </a:r>
                    </a:p>
                  </a:txBody>
                  <a:tcPr marL="83680" marR="83680" marT="41840" marB="41840" anchor="ctr"/>
                </a:tc>
                <a:tc>
                  <a:txBody>
                    <a:bodyPr/>
                    <a:lstStyle/>
                    <a:p>
                      <a:pPr algn="ctr">
                        <a:buNone/>
                      </a:pPr>
                      <a:r>
                        <a:rPr kumimoji="0" lang="en-IN" sz="2200" b="1" i="0" u="none" strike="noStrike" kern="1200" cap="none" normalizeH="0" baseline="0" dirty="0" err="1">
                          <a:ln>
                            <a:noFill/>
                          </a:ln>
                          <a:solidFill>
                            <a:schemeClr val="tx1"/>
                          </a:solidFill>
                          <a:effectLst/>
                          <a:latin typeface="Times New Roman" panose="02020603050405020304" pitchFamily="18" charset="0"/>
                          <a:ea typeface="+mn-ea"/>
                          <a:cs typeface="Times New Roman" panose="02020603050405020304" pitchFamily="18" charset="0"/>
                        </a:rPr>
                        <a:t>EduSphere</a:t>
                      </a:r>
                      <a:r>
                        <a:rPr kumimoji="0" lang="en-IN" sz="2200" b="1"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 Innovation</a:t>
                      </a:r>
                    </a:p>
                  </a:txBody>
                  <a:tcPr marL="83680" marR="83680" marT="41840" marB="41840" anchor="ctr"/>
                </a:tc>
                <a:extLst>
                  <a:ext uri="{0D108BD9-81ED-4DB2-BD59-A6C34878D82A}">
                    <a16:rowId xmlns:a16="http://schemas.microsoft.com/office/drawing/2014/main" val="3299433859"/>
                  </a:ext>
                </a:extLst>
              </a:tr>
              <a:tr h="585757">
                <a:tc>
                  <a:txBody>
                    <a:bodyPr/>
                    <a:lstStyle/>
                    <a:p>
                      <a:pPr algn="just">
                        <a:buNone/>
                      </a:pPr>
                      <a:r>
                        <a:rPr kumimoji="0" lang="en-IN" sz="2200" b="0"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Learning, coding, placement, and collaboration exist as separate applications.</a:t>
                      </a:r>
                    </a:p>
                  </a:txBody>
                  <a:tcPr marL="83680" marR="83680" marT="41840" marB="41840" anchor="ctr"/>
                </a:tc>
                <a:tc>
                  <a:txBody>
                    <a:bodyPr/>
                    <a:lstStyle/>
                    <a:p>
                      <a:pPr algn="just">
                        <a:buNone/>
                      </a:pPr>
                      <a:r>
                        <a:rPr kumimoji="0" lang="en-IN" sz="2200" b="0" i="0" u="none" strike="noStrike" kern="1200"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Unified AI-Powered Student Lifecycle Ecosystem integrating all academic and career activities.</a:t>
                      </a:r>
                    </a:p>
                  </a:txBody>
                  <a:tcPr marL="83680" marR="83680" marT="41840" marB="41840" anchor="ctr"/>
                </a:tc>
                <a:extLst>
                  <a:ext uri="{0D108BD9-81ED-4DB2-BD59-A6C34878D82A}">
                    <a16:rowId xmlns:a16="http://schemas.microsoft.com/office/drawing/2014/main" val="4233891095"/>
                  </a:ext>
                </a:extLst>
              </a:tr>
              <a:tr h="585757">
                <a:tc>
                  <a:txBody>
                    <a:bodyPr/>
                    <a:lstStyle/>
                    <a:p>
                      <a:pPr algn="just">
                        <a:buNone/>
                      </a:pPr>
                      <a:r>
                        <a:rPr kumimoji="0" lang="en-IN" sz="2200" b="0"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Dashboards only display historical data.</a:t>
                      </a:r>
                    </a:p>
                  </a:txBody>
                  <a:tcPr marL="83680" marR="83680" marT="41840" marB="41840" anchor="ctr"/>
                </a:tc>
                <a:tc>
                  <a:txBody>
                    <a:bodyPr/>
                    <a:lstStyle/>
                    <a:p>
                      <a:pPr algn="just">
                        <a:buNone/>
                      </a:pPr>
                      <a:r>
                        <a:rPr kumimoji="0" lang="en-IN" sz="2200" b="0"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AI Digital Twin continuously </a:t>
                      </a:r>
                      <a:r>
                        <a:rPr kumimoji="0" lang="en-IN" sz="2200" b="0" i="0" u="none" strike="noStrike" kern="1200" cap="none" normalizeH="0" baseline="0" dirty="0" err="1">
                          <a:ln>
                            <a:noFill/>
                          </a:ln>
                          <a:solidFill>
                            <a:schemeClr val="tx1"/>
                          </a:solidFill>
                          <a:effectLst/>
                          <a:latin typeface="Times New Roman" panose="02020603050405020304" pitchFamily="18" charset="0"/>
                          <a:ea typeface="+mn-ea"/>
                          <a:cs typeface="Times New Roman" panose="02020603050405020304" pitchFamily="18" charset="0"/>
                        </a:rPr>
                        <a:t>analyzes</a:t>
                      </a:r>
                      <a:r>
                        <a:rPr kumimoji="0" lang="en-IN" sz="2200" b="0"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 student behaviours and builds a dynamic academic profile.</a:t>
                      </a:r>
                    </a:p>
                  </a:txBody>
                  <a:tcPr marL="83680" marR="83680" marT="41840" marB="41840" anchor="ctr"/>
                </a:tc>
                <a:extLst>
                  <a:ext uri="{0D108BD9-81ED-4DB2-BD59-A6C34878D82A}">
                    <a16:rowId xmlns:a16="http://schemas.microsoft.com/office/drawing/2014/main" val="2475187720"/>
                  </a:ext>
                </a:extLst>
              </a:tr>
              <a:tr h="585757">
                <a:tc>
                  <a:txBody>
                    <a:bodyPr/>
                    <a:lstStyle/>
                    <a:p>
                      <a:pPr algn="just">
                        <a:buNone/>
                      </a:pPr>
                      <a:r>
                        <a:rPr kumimoji="0" lang="en-IN" sz="2200" b="0"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Generic learning resources for all students.</a:t>
                      </a:r>
                    </a:p>
                  </a:txBody>
                  <a:tcPr marL="83680" marR="83680" marT="41840" marB="41840" anchor="ctr"/>
                </a:tc>
                <a:tc>
                  <a:txBody>
                    <a:bodyPr/>
                    <a:lstStyle/>
                    <a:p>
                      <a:pPr algn="just">
                        <a:buNone/>
                      </a:pPr>
                      <a:r>
                        <a:rPr kumimoji="0" lang="en-IN" sz="2200" b="0"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Personalized AI Learning Assistant recommends study plans, notes, quizzes, and coding practice.</a:t>
                      </a:r>
                    </a:p>
                  </a:txBody>
                  <a:tcPr marL="83680" marR="83680" marT="41840" marB="41840" anchor="ctr"/>
                </a:tc>
                <a:extLst>
                  <a:ext uri="{0D108BD9-81ED-4DB2-BD59-A6C34878D82A}">
                    <a16:rowId xmlns:a16="http://schemas.microsoft.com/office/drawing/2014/main" val="3525758204"/>
                  </a:ext>
                </a:extLst>
              </a:tr>
              <a:tr h="585757">
                <a:tc>
                  <a:txBody>
                    <a:bodyPr/>
                    <a:lstStyle/>
                    <a:p>
                      <a:pPr algn="just">
                        <a:buNone/>
                      </a:pPr>
                      <a:r>
                        <a:rPr kumimoji="0" lang="en-IN" sz="2200" b="0" i="0" u="none" strike="noStrike" kern="1200"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Faculty manually monitor student performance.</a:t>
                      </a:r>
                    </a:p>
                  </a:txBody>
                  <a:tcPr marL="83680" marR="83680" marT="41840" marB="41840" anchor="ctr"/>
                </a:tc>
                <a:tc>
                  <a:txBody>
                    <a:bodyPr/>
                    <a:lstStyle/>
                    <a:p>
                      <a:pPr algn="just">
                        <a:buNone/>
                      </a:pPr>
                      <a:r>
                        <a:rPr kumimoji="0" lang="en-IN" sz="2200" b="0"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Machine Learning Risk Prediction automatically identifies at-risk students and sends alerts.</a:t>
                      </a:r>
                    </a:p>
                  </a:txBody>
                  <a:tcPr marL="83680" marR="83680" marT="41840" marB="41840" anchor="ctr"/>
                </a:tc>
                <a:extLst>
                  <a:ext uri="{0D108BD9-81ED-4DB2-BD59-A6C34878D82A}">
                    <a16:rowId xmlns:a16="http://schemas.microsoft.com/office/drawing/2014/main" val="3834201924"/>
                  </a:ext>
                </a:extLst>
              </a:tr>
              <a:tr h="836796">
                <a:tc>
                  <a:txBody>
                    <a:bodyPr/>
                    <a:lstStyle/>
                    <a:p>
                      <a:pPr algn="just">
                        <a:buNone/>
                      </a:pPr>
                      <a:r>
                        <a:rPr kumimoji="0" lang="en-IN" sz="2200" b="0" i="0" u="none" strike="noStrike" kern="1200" cap="none" normalizeH="0" baseline="0">
                          <a:ln>
                            <a:noFill/>
                          </a:ln>
                          <a:solidFill>
                            <a:schemeClr val="tx1"/>
                          </a:solidFill>
                          <a:effectLst/>
                          <a:latin typeface="Times New Roman" panose="02020603050405020304" pitchFamily="18" charset="0"/>
                          <a:ea typeface="+mn-ea"/>
                          <a:cs typeface="Times New Roman" panose="02020603050405020304" pitchFamily="18" charset="0"/>
                        </a:rPr>
                        <a:t>Placement support is limited to resume submission.</a:t>
                      </a:r>
                    </a:p>
                  </a:txBody>
                  <a:tcPr marL="83680" marR="83680" marT="41840" marB="41840" anchor="ctr"/>
                </a:tc>
                <a:tc>
                  <a:txBody>
                    <a:bodyPr/>
                    <a:lstStyle/>
                    <a:p>
                      <a:pPr algn="just">
                        <a:buNone/>
                      </a:pPr>
                      <a:r>
                        <a:rPr kumimoji="0" lang="en-IN" sz="2200" b="0"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AI Career Navigator with ATS resume analysis, skill-gap detection, internship recommendations, and placement readiness scoring.</a:t>
                      </a:r>
                    </a:p>
                  </a:txBody>
                  <a:tcPr marL="83680" marR="83680" marT="41840" marB="41840" anchor="ctr"/>
                </a:tc>
                <a:extLst>
                  <a:ext uri="{0D108BD9-81ED-4DB2-BD59-A6C34878D82A}">
                    <a16:rowId xmlns:a16="http://schemas.microsoft.com/office/drawing/2014/main" val="3580009731"/>
                  </a:ext>
                </a:extLst>
              </a:tr>
              <a:tr h="836796">
                <a:tc>
                  <a:txBody>
                    <a:bodyPr/>
                    <a:lstStyle/>
                    <a:p>
                      <a:pPr algn="just">
                        <a:buNone/>
                      </a:pPr>
                      <a:r>
                        <a:rPr kumimoji="0" lang="en-IN" sz="2200" b="0"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No prediction of future academic outcomes.</a:t>
                      </a:r>
                    </a:p>
                  </a:txBody>
                  <a:tcPr marL="83680" marR="83680" marT="41840" marB="41840" anchor="ctr"/>
                </a:tc>
                <a:tc>
                  <a:txBody>
                    <a:bodyPr/>
                    <a:lstStyle/>
                    <a:p>
                      <a:pPr algn="just">
                        <a:buNone/>
                      </a:pPr>
                      <a:r>
                        <a:rPr kumimoji="0" lang="en-IN" sz="2200" b="0" i="0" u="none" strike="noStrike" kern="1200" cap="none" normalizeH="0" baseline="0" dirty="0">
                          <a:ln>
                            <a:noFill/>
                          </a:ln>
                          <a:solidFill>
                            <a:schemeClr val="tx1"/>
                          </a:solidFill>
                          <a:effectLst/>
                          <a:latin typeface="Times New Roman" panose="02020603050405020304" pitchFamily="18" charset="0"/>
                          <a:ea typeface="+mn-ea"/>
                          <a:cs typeface="Times New Roman" panose="02020603050405020304" pitchFamily="18" charset="0"/>
                        </a:rPr>
                        <a:t>Future Simulation Engine predicts GPA, placement probability, and career growth based on different learning scenarios.</a:t>
                      </a:r>
                    </a:p>
                  </a:txBody>
                  <a:tcPr marL="83680" marR="83680" marT="41840" marB="41840" anchor="ctr"/>
                </a:tc>
                <a:extLst>
                  <a:ext uri="{0D108BD9-81ED-4DB2-BD59-A6C34878D82A}">
                    <a16:rowId xmlns:a16="http://schemas.microsoft.com/office/drawing/2014/main" val="3428905911"/>
                  </a:ext>
                </a:extLst>
              </a:tr>
            </a:tbl>
          </a:graphicData>
        </a:graphic>
      </p:graphicFrame>
    </p:spTree>
    <p:extLst>
      <p:ext uri="{BB962C8B-B14F-4D97-AF65-F5344CB8AC3E}">
        <p14:creationId xmlns:p14="http://schemas.microsoft.com/office/powerpoint/2010/main" val="4160248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5603C-D86D-6936-E232-88F9FED0BD74}"/>
              </a:ext>
            </a:extLst>
          </p:cNvPr>
          <p:cNvSpPr>
            <a:spLocks noGrp="1"/>
          </p:cNvSpPr>
          <p:nvPr>
            <p:ph type="title"/>
          </p:nvPr>
        </p:nvSpPr>
        <p:spPr/>
        <p:txBody>
          <a:bodyPr/>
          <a:lstStyle/>
          <a:p>
            <a:pPr algn="ctr"/>
            <a:r>
              <a:rPr lang="en-US" b="1" dirty="0">
                <a:solidFill>
                  <a:srgbClr val="FF0000"/>
                </a:solidFill>
                <a:latin typeface="Times New Roman" panose="02020603050405020304" pitchFamily="18" charset="0"/>
                <a:cs typeface="Times New Roman" panose="02020603050405020304" pitchFamily="18" charset="0"/>
              </a:rPr>
              <a:t>Proposed work</a:t>
            </a:r>
            <a:br>
              <a:rPr lang="en-IN" dirty="0"/>
            </a:br>
            <a:endParaRPr lang="en-IN" dirty="0"/>
          </a:p>
        </p:txBody>
      </p:sp>
      <p:sp>
        <p:nvSpPr>
          <p:cNvPr id="3" name="Content Placeholder 2">
            <a:extLst>
              <a:ext uri="{FF2B5EF4-FFF2-40B4-BE49-F238E27FC236}">
                <a16:creationId xmlns:a16="http://schemas.microsoft.com/office/drawing/2014/main" id="{F4C73673-558F-E8CB-58F6-86F9B95B7A2A}"/>
              </a:ext>
            </a:extLst>
          </p:cNvPr>
          <p:cNvSpPr>
            <a:spLocks noGrp="1"/>
          </p:cNvSpPr>
          <p:nvPr>
            <p:ph idx="1"/>
          </p:nvPr>
        </p:nvSpPr>
        <p:spPr>
          <a:xfrm>
            <a:off x="0" y="1219200"/>
            <a:ext cx="12192000" cy="4957763"/>
          </a:xfrm>
        </p:spPr>
        <p:txBody>
          <a:bodyPr>
            <a:normAutofit/>
          </a:bodyPr>
          <a:lstStyle/>
          <a:p>
            <a:pPr algn="just">
              <a:lnSpc>
                <a:spcPct val="150000"/>
              </a:lnSpc>
            </a:pPr>
            <a:r>
              <a:rPr lang="en-US" sz="2400" dirty="0">
                <a:latin typeface="Times New Roman" panose="02020603050405020304" pitchFamily="18" charset="0"/>
                <a:cs typeface="Times New Roman" panose="02020603050405020304" pitchFamily="18" charset="0"/>
              </a:rPr>
              <a:t>The proposed system collects multi-dimensional student data such as attendance, assignment completion, coding performance, MCQ results, study planner usage, communication activity, certificates, and login behavior.</a:t>
            </a:r>
          </a:p>
          <a:p>
            <a:pPr algn="just">
              <a:lnSpc>
                <a:spcPct val="150000"/>
              </a:lnSpc>
            </a:pPr>
            <a:r>
              <a:rPr lang="en-US" sz="2400" dirty="0">
                <a:latin typeface="Times New Roman" panose="02020603050405020304" pitchFamily="18" charset="0"/>
                <a:cs typeface="Times New Roman" panose="02020603050405020304" pitchFamily="18" charset="0"/>
              </a:rPr>
              <a:t>This data is processed by the </a:t>
            </a:r>
            <a:r>
              <a:rPr lang="en-US" sz="2400" dirty="0" err="1">
                <a:latin typeface="Times New Roman" panose="02020603050405020304" pitchFamily="18" charset="0"/>
                <a:cs typeface="Times New Roman" panose="02020603050405020304" pitchFamily="18" charset="0"/>
              </a:rPr>
              <a:t>EduSphere</a:t>
            </a:r>
            <a:r>
              <a:rPr lang="en-US" sz="2400" dirty="0">
                <a:latin typeface="Times New Roman" panose="02020603050405020304" pitchFamily="18" charset="0"/>
                <a:cs typeface="Times New Roman" panose="02020603050405020304" pitchFamily="18" charset="0"/>
              </a:rPr>
              <a:t> AI Core to generate performance predictions, recommendations, learning paths, placement readiness analysis, and personalized interventions.</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 platform also includes an AI tutor, resume builder, ATS analyzer, mock interview support, internship portal, and academic dashboard so that both learning and career growth are supported within the same environment.</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B37975C5-CECD-3971-3B92-9C270ED9F7E3}"/>
              </a:ext>
            </a:extLst>
          </p:cNvPr>
          <p:cNvSpPr>
            <a:spLocks noGrp="1"/>
          </p:cNvSpPr>
          <p:nvPr>
            <p:ph type="ftr" sz="quarter" idx="11"/>
          </p:nvPr>
        </p:nvSpPr>
        <p:spPr>
          <a:xfrm>
            <a:off x="3813048" y="6411215"/>
            <a:ext cx="4340352" cy="364490"/>
          </a:xfrm>
        </p:spPr>
        <p:txBody>
          <a:bodyPr/>
          <a:lstStyle/>
          <a:p>
            <a:r>
              <a:rPr lang="en-US" dirty="0" err="1"/>
              <a:t>EduSphere</a:t>
            </a:r>
            <a:r>
              <a:rPr lang="en-US" dirty="0"/>
              <a:t>:  AI-Powered Student Lifecycle Management Ecosystem</a:t>
            </a:r>
            <a:endParaRPr lang="en-IN" dirty="0"/>
          </a:p>
        </p:txBody>
      </p:sp>
    </p:spTree>
    <p:extLst>
      <p:ext uri="{BB962C8B-B14F-4D97-AF65-F5344CB8AC3E}">
        <p14:creationId xmlns:p14="http://schemas.microsoft.com/office/powerpoint/2010/main" val="2937813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2D42C-E3F2-073E-2B71-415EEDC7D7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6639ED-D285-244D-714B-26FF604D96F8}"/>
              </a:ext>
            </a:extLst>
          </p:cNvPr>
          <p:cNvSpPr>
            <a:spLocks noGrp="1"/>
          </p:cNvSpPr>
          <p:nvPr>
            <p:ph type="title"/>
          </p:nvPr>
        </p:nvSpPr>
        <p:spPr>
          <a:xfrm>
            <a:off x="562429" y="0"/>
            <a:ext cx="10410371" cy="1295626"/>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Methodology : Block Diagram</a:t>
            </a:r>
            <a:r>
              <a:rPr lang="en-US" dirty="0">
                <a:solidFill>
                  <a:srgbClr val="7030A0"/>
                </a:solidFill>
              </a:rPr>
              <a:t> </a:t>
            </a:r>
            <a:br>
              <a:rPr lang="en-IN" b="1" dirty="0"/>
            </a:br>
            <a:endParaRPr lang="en-IN" dirty="0"/>
          </a:p>
        </p:txBody>
      </p:sp>
      <p:sp>
        <p:nvSpPr>
          <p:cNvPr id="3" name="Content Placeholder 2">
            <a:extLst>
              <a:ext uri="{FF2B5EF4-FFF2-40B4-BE49-F238E27FC236}">
                <a16:creationId xmlns:a16="http://schemas.microsoft.com/office/drawing/2014/main" id="{6589E460-D410-05B6-F5A3-06B4E9B3AD25}"/>
              </a:ext>
            </a:extLst>
          </p:cNvPr>
          <p:cNvSpPr>
            <a:spLocks noGrp="1"/>
          </p:cNvSpPr>
          <p:nvPr>
            <p:ph idx="1"/>
          </p:nvPr>
        </p:nvSpPr>
        <p:spPr>
          <a:xfrm>
            <a:off x="838200" y="1146629"/>
            <a:ext cx="10515600" cy="5030334"/>
          </a:xfrm>
        </p:spPr>
        <p:txBody>
          <a:bodyPr>
            <a:normAutofit/>
          </a:bodyPr>
          <a:lstStyle/>
          <a:p>
            <a:pPr marL="0" indent="0">
              <a:buNone/>
            </a:pPr>
            <a:endParaRPr lang="en-IN" sz="2400" b="1" dirty="0">
              <a:latin typeface="Times New Roman" panose="02020603050405020304" pitchFamily="18" charset="0"/>
              <a:cs typeface="Times New Roman" panose="02020603050405020304" pitchFamily="18" charset="0"/>
            </a:endParaRPr>
          </a:p>
          <a:p>
            <a:pPr marL="0" indent="0">
              <a:buNone/>
            </a:pPr>
            <a:endParaRPr lang="en-IN" b="1" dirty="0"/>
          </a:p>
          <a:p>
            <a:pPr marL="0" indent="0">
              <a:buNone/>
            </a:pPr>
            <a:endParaRPr lang="en-IN" b="1" dirty="0"/>
          </a:p>
          <a:p>
            <a:pPr marL="0" indent="0">
              <a:buNone/>
            </a:pPr>
            <a:endParaRPr lang="en-IN" sz="25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5AE8058B-1E1A-0031-4A9A-817EE3E7550F}"/>
              </a:ext>
            </a:extLst>
          </p:cNvPr>
          <p:cNvSpPr>
            <a:spLocks noGrp="1"/>
          </p:cNvSpPr>
          <p:nvPr>
            <p:ph type="ftr" sz="quarter" idx="11"/>
          </p:nvPr>
        </p:nvSpPr>
        <p:spPr>
          <a:xfrm>
            <a:off x="3739896" y="6356350"/>
            <a:ext cx="4413504" cy="419354"/>
          </a:xfrm>
        </p:spPr>
        <p:txBody>
          <a:bodyPr/>
          <a:lstStyle/>
          <a:p>
            <a:r>
              <a:rPr lang="en-US" dirty="0" err="1"/>
              <a:t>EduSphere</a:t>
            </a:r>
            <a:r>
              <a:rPr lang="en-US" dirty="0"/>
              <a:t>:  AI-Powered Student Lifecycle Management Ecosystem</a:t>
            </a:r>
            <a:endParaRPr lang="en-IN" dirty="0"/>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140" y="856712"/>
            <a:ext cx="12072859" cy="5320251"/>
          </a:xfrm>
          <a:prstGeom prst="rect">
            <a:avLst/>
          </a:prstGeom>
        </p:spPr>
      </p:pic>
    </p:spTree>
    <p:extLst>
      <p:ext uri="{BB962C8B-B14F-4D97-AF65-F5344CB8AC3E}">
        <p14:creationId xmlns:p14="http://schemas.microsoft.com/office/powerpoint/2010/main" val="3226467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CECE8-FEFB-1D30-F629-767D4427F133}"/>
              </a:ext>
            </a:extLst>
          </p:cNvPr>
          <p:cNvSpPr>
            <a:spLocks noGrp="1"/>
          </p:cNvSpPr>
          <p:nvPr>
            <p:ph type="title"/>
          </p:nvPr>
        </p:nvSpPr>
        <p:spPr>
          <a:xfrm>
            <a:off x="693056" y="205468"/>
            <a:ext cx="10515600" cy="1112055"/>
          </a:xfrm>
        </p:spPr>
        <p:txBody>
          <a:bodyPr>
            <a:normAutofit fontScale="90000"/>
          </a:bodyPr>
          <a:lstStyle/>
          <a:p>
            <a:pPr algn="ctr"/>
            <a:r>
              <a:rPr lang="en-US" b="1" dirty="0">
                <a:solidFill>
                  <a:srgbClr val="FF0000"/>
                </a:solidFill>
                <a:latin typeface="Times New Roman" panose="02020603050405020304" pitchFamily="18" charset="0"/>
                <a:cs typeface="Times New Roman" panose="02020603050405020304" pitchFamily="18" charset="0"/>
              </a:rPr>
              <a:t>Methodology - Tools / technologies to be used</a:t>
            </a:r>
            <a:br>
              <a:rPr lang="en-IN" b="1" dirty="0"/>
            </a:br>
            <a:endParaRPr lang="en-IN" dirty="0"/>
          </a:p>
        </p:txBody>
      </p:sp>
      <p:sp>
        <p:nvSpPr>
          <p:cNvPr id="4" name="Footer Placeholder 3">
            <a:extLst>
              <a:ext uri="{FF2B5EF4-FFF2-40B4-BE49-F238E27FC236}">
                <a16:creationId xmlns:a16="http://schemas.microsoft.com/office/drawing/2014/main" id="{45DA2F26-CA1A-B92B-E816-8E960C9D5B1A}"/>
              </a:ext>
            </a:extLst>
          </p:cNvPr>
          <p:cNvSpPr>
            <a:spLocks noGrp="1"/>
          </p:cNvSpPr>
          <p:nvPr>
            <p:ph type="ftr" sz="quarter" idx="11"/>
          </p:nvPr>
        </p:nvSpPr>
        <p:spPr>
          <a:xfrm>
            <a:off x="3681984" y="6451999"/>
            <a:ext cx="4401312" cy="401066"/>
          </a:xfrm>
        </p:spPr>
        <p:txBody>
          <a:bodyPr/>
          <a:lstStyle/>
          <a:p>
            <a:r>
              <a:rPr lang="en-US" dirty="0" err="1"/>
              <a:t>EduSphere</a:t>
            </a:r>
            <a:r>
              <a:rPr lang="en-US" dirty="0"/>
              <a:t>:  AI-Powered Student Lifecycle Management Ecosystem</a:t>
            </a:r>
            <a:endParaRPr lang="en-IN" dirty="0"/>
          </a:p>
        </p:txBody>
      </p:sp>
      <p:sp>
        <p:nvSpPr>
          <p:cNvPr id="8" name="Rectangle 3"/>
          <p:cNvSpPr>
            <a:spLocks noChangeArrowheads="1"/>
          </p:cNvSpPr>
          <p:nvPr/>
        </p:nvSpPr>
        <p:spPr bwMode="auto">
          <a:xfrm>
            <a:off x="0" y="724039"/>
            <a:ext cx="12411075"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Frontend: React.js,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TypeScript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Tailwind CSS.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Backend: Node.js, Express.js.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Database: MongoDB,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Redis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AI / ML Libraries and Frameworks: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Python,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scikit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-learn, pandas,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NumPy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TensorFlow</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or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PyTorch</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NLP / AI Assistant: LLM-based assistant, RAG pipeline for notes, documents, and research support.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Authentication / Security: JWT, OAuth, RBAC.</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 / Deployment: AWS or Azure, Docker, GitHub Actions.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Analytics / Visualization: Power BI or custom dashboard charts,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Plotly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Chart.js.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Collaboration / Integration: GitHub API, calendar APIs, notification services.</a:t>
            </a:r>
          </a:p>
        </p:txBody>
      </p:sp>
    </p:spTree>
    <p:extLst>
      <p:ext uri="{BB962C8B-B14F-4D97-AF65-F5344CB8AC3E}">
        <p14:creationId xmlns:p14="http://schemas.microsoft.com/office/powerpoint/2010/main" val="4065203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CECE8-FEFB-1D30-F629-767D4427F133}"/>
              </a:ext>
            </a:extLst>
          </p:cNvPr>
          <p:cNvSpPr>
            <a:spLocks noGrp="1"/>
          </p:cNvSpPr>
          <p:nvPr>
            <p:ph type="title"/>
          </p:nvPr>
        </p:nvSpPr>
        <p:spPr/>
        <p:txBody>
          <a:bodyPr>
            <a:normAutofit fontScale="90000"/>
          </a:bodyPr>
          <a:lstStyle/>
          <a:p>
            <a:r>
              <a:rPr lang="en-US" b="1" dirty="0">
                <a:solidFill>
                  <a:srgbClr val="FF0000"/>
                </a:solidFill>
                <a:latin typeface="Times New Roman" panose="02020603050405020304" pitchFamily="18" charset="0"/>
                <a:cs typeface="Times New Roman" panose="02020603050405020304" pitchFamily="18" charset="0"/>
              </a:rPr>
              <a:t>Methodology :</a:t>
            </a:r>
            <a:r>
              <a:rPr lang="en-US" dirty="0">
                <a:solidFill>
                  <a:srgbClr val="FF0000"/>
                </a:solidFill>
              </a:rPr>
              <a:t> </a:t>
            </a:r>
            <a:r>
              <a:rPr lang="en-IN" b="1" dirty="0">
                <a:solidFill>
                  <a:srgbClr val="FF0000"/>
                </a:solidFill>
                <a:latin typeface="Times New Roman" panose="02020603050405020304" pitchFamily="18" charset="0"/>
                <a:cs typeface="Times New Roman" panose="02020603050405020304" pitchFamily="18" charset="0"/>
              </a:rPr>
              <a:t>Datasets / Experimental Setup</a:t>
            </a:r>
            <a:br>
              <a:rPr lang="en-IN" b="1" dirty="0">
                <a:latin typeface="Times New Roman" panose="02020603050405020304" pitchFamily="18" charset="0"/>
                <a:cs typeface="Times New Roman" panose="02020603050405020304" pitchFamily="18" charset="0"/>
              </a:rPr>
            </a:b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A603AA66-BEBA-2700-1275-1EB6AF79110E}"/>
              </a:ext>
            </a:extLst>
          </p:cNvPr>
          <p:cNvSpPr>
            <a:spLocks noGrp="1"/>
          </p:cNvSpPr>
          <p:nvPr>
            <p:ph idx="1"/>
          </p:nvPr>
        </p:nvSpPr>
        <p:spPr>
          <a:xfrm>
            <a:off x="301932" y="790218"/>
            <a:ext cx="11617166" cy="4351338"/>
          </a:xfrm>
        </p:spPr>
        <p:txBody>
          <a:bodyPr>
            <a:noAutofit/>
          </a:bodyPr>
          <a:lstStyle/>
          <a:p>
            <a:pPr marL="0" lvl="0" indent="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Institutional dataset: attendance records, internal marks, assignment scores, quiz results, coding scores, and semester performance.</a:t>
            </a:r>
          </a:p>
          <a:p>
            <a:pPr marL="0" lvl="0" indent="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Behavioral dataset: study time, login frequency, resource usage, task completion patterns, and interaction logs.</a:t>
            </a:r>
          </a:p>
          <a:p>
            <a:pPr marL="0" lvl="0" indent="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Career dataset: resume fields, skills, certifications, internship interests, and placement history.</a:t>
            </a:r>
          </a:p>
          <a:p>
            <a:pPr marL="0" lvl="0" indent="0" eaLnBrk="0" fontAlgn="base" hangingPunct="0">
              <a:lnSpc>
                <a:spcPct val="150000"/>
              </a:lnSpc>
              <a:spcBef>
                <a:spcPct val="0"/>
              </a:spcBef>
              <a:spcAft>
                <a:spcPct val="0"/>
              </a:spcAft>
              <a:buFontTx/>
              <a:buChar char="•"/>
            </a:pPr>
            <a:r>
              <a:rPr lang="en-US" altLang="en-US" sz="2400" dirty="0">
                <a:latin typeface="Times New Roman" panose="02020603050405020304" pitchFamily="18" charset="0"/>
                <a:cs typeface="Times New Roman" panose="02020603050405020304" pitchFamily="18" charset="0"/>
              </a:rPr>
              <a:t>Experimental setup:</a:t>
            </a:r>
          </a:p>
          <a:p>
            <a:pPr lvl="1" eaLnBrk="0" fontAlgn="base" hangingPunct="0">
              <a:spcBef>
                <a:spcPct val="0"/>
              </a:spcBef>
              <a:spcAft>
                <a:spcPct val="0"/>
              </a:spcAft>
              <a:buFontTx/>
              <a:buAutoNum type="arabicPeriod"/>
            </a:pPr>
            <a:r>
              <a:rPr lang="en-US" altLang="en-US" dirty="0">
                <a:latin typeface="Times New Roman" panose="02020603050405020304" pitchFamily="18" charset="0"/>
                <a:cs typeface="Times New Roman" panose="02020603050405020304" pitchFamily="18" charset="0"/>
              </a:rPr>
              <a:t>Collect student activity data from platform modules.</a:t>
            </a:r>
          </a:p>
          <a:p>
            <a:pPr lvl="1" eaLnBrk="0" fontAlgn="base" hangingPunct="0">
              <a:spcBef>
                <a:spcPct val="0"/>
              </a:spcBef>
              <a:spcAft>
                <a:spcPct val="0"/>
              </a:spcAft>
              <a:buFontTx/>
              <a:buAutoNum type="arabicPeriod"/>
            </a:pPr>
            <a:r>
              <a:rPr lang="en-US" altLang="en-US" dirty="0">
                <a:latin typeface="Times New Roman" panose="02020603050405020304" pitchFamily="18" charset="0"/>
                <a:cs typeface="Times New Roman" panose="02020603050405020304" pitchFamily="18" charset="0"/>
              </a:rPr>
              <a:t>Preprocess and convert data into measurable features.</a:t>
            </a:r>
          </a:p>
          <a:p>
            <a:pPr lvl="1" eaLnBrk="0" fontAlgn="base" hangingPunct="0">
              <a:spcBef>
                <a:spcPct val="0"/>
              </a:spcBef>
              <a:spcAft>
                <a:spcPct val="0"/>
              </a:spcAft>
              <a:buFontTx/>
              <a:buAutoNum type="arabicPeriod"/>
            </a:pPr>
            <a:r>
              <a:rPr lang="en-US" altLang="en-US" dirty="0">
                <a:latin typeface="Times New Roman" panose="02020603050405020304" pitchFamily="18" charset="0"/>
                <a:cs typeface="Times New Roman" panose="02020603050405020304" pitchFamily="18" charset="0"/>
              </a:rPr>
              <a:t>Train models for performance prediction, risk detection, and placement readiness.</a:t>
            </a:r>
          </a:p>
          <a:p>
            <a:pPr lvl="1" eaLnBrk="0" fontAlgn="base" hangingPunct="0">
              <a:spcBef>
                <a:spcPct val="0"/>
              </a:spcBef>
              <a:spcAft>
                <a:spcPct val="0"/>
              </a:spcAft>
              <a:buFontTx/>
              <a:buAutoNum type="arabicPeriod"/>
            </a:pPr>
            <a:r>
              <a:rPr lang="en-US" altLang="en-US" dirty="0">
                <a:latin typeface="Times New Roman" panose="02020603050405020304" pitchFamily="18" charset="0"/>
                <a:cs typeface="Times New Roman" panose="02020603050405020304" pitchFamily="18" charset="0"/>
              </a:rPr>
              <a:t>Generate personalized recommendations and compare outcomes.</a:t>
            </a:r>
          </a:p>
          <a:p>
            <a:pPr lvl="1" eaLnBrk="0" fontAlgn="base" hangingPunct="0">
              <a:spcBef>
                <a:spcPct val="0"/>
              </a:spcBef>
              <a:spcAft>
                <a:spcPct val="0"/>
              </a:spcAft>
              <a:buFontTx/>
              <a:buAutoNum type="arabicPeriod"/>
            </a:pPr>
            <a:r>
              <a:rPr lang="en-US" altLang="en-US" dirty="0">
                <a:latin typeface="Times New Roman" panose="02020603050405020304" pitchFamily="18" charset="0"/>
                <a:cs typeface="Times New Roman" panose="02020603050405020304" pitchFamily="18" charset="0"/>
              </a:rPr>
              <a:t>Evaluate using accuracy, precision, recall, F1-score, and user feedback.</a:t>
            </a:r>
          </a:p>
          <a:p>
            <a:pPr marL="0" indent="0">
              <a:buNone/>
            </a:pPr>
            <a:endParaRPr lang="en-IN" sz="2400" dirty="0"/>
          </a:p>
        </p:txBody>
      </p:sp>
      <p:sp>
        <p:nvSpPr>
          <p:cNvPr id="6" name="Footer Placeholder 5">
            <a:extLst>
              <a:ext uri="{FF2B5EF4-FFF2-40B4-BE49-F238E27FC236}">
                <a16:creationId xmlns:a16="http://schemas.microsoft.com/office/drawing/2014/main" id="{4A0A9A0F-3B9C-E530-A36E-B75DB189CD3B}"/>
              </a:ext>
            </a:extLst>
          </p:cNvPr>
          <p:cNvSpPr>
            <a:spLocks noGrp="1"/>
          </p:cNvSpPr>
          <p:nvPr>
            <p:ph type="ftr" sz="quarter" idx="11"/>
          </p:nvPr>
        </p:nvSpPr>
        <p:spPr>
          <a:xfrm>
            <a:off x="3721608" y="6402070"/>
            <a:ext cx="4431792" cy="391922"/>
          </a:xfrm>
        </p:spPr>
        <p:txBody>
          <a:bodyPr/>
          <a:lstStyle/>
          <a:p>
            <a:r>
              <a:rPr lang="en-US" dirty="0" err="1"/>
              <a:t>EduSphere</a:t>
            </a:r>
            <a:r>
              <a:rPr lang="en-US" dirty="0"/>
              <a:t>:  AI-Powered Student Lifecycle Management Ecosystem</a:t>
            </a:r>
            <a:endParaRPr lang="en-IN" dirty="0"/>
          </a:p>
        </p:txBody>
      </p:sp>
    </p:spTree>
    <p:extLst>
      <p:ext uri="{BB962C8B-B14F-4D97-AF65-F5344CB8AC3E}">
        <p14:creationId xmlns:p14="http://schemas.microsoft.com/office/powerpoint/2010/main" val="2259720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80ABF-6E02-C2E9-D69B-0F611C7D4052}"/>
              </a:ext>
            </a:extLst>
          </p:cNvPr>
          <p:cNvSpPr>
            <a:spLocks noGrp="1"/>
          </p:cNvSpPr>
          <p:nvPr>
            <p:ph type="title"/>
          </p:nvPr>
        </p:nvSpPr>
        <p:spPr>
          <a:xfrm>
            <a:off x="838200" y="56797"/>
            <a:ext cx="10515600" cy="1325563"/>
          </a:xfrm>
        </p:spPr>
        <p:txBody>
          <a:bodyPr/>
          <a:lstStyle/>
          <a:p>
            <a:pPr algn="ctr"/>
            <a:r>
              <a:rPr lang="en-US" altLang="en-US" b="1" dirty="0">
                <a:solidFill>
                  <a:srgbClr val="FF0000"/>
                </a:solidFill>
                <a:latin typeface="Times New Roman" panose="02020603050405020304" pitchFamily="18" charset="0"/>
                <a:ea typeface="Calibri Light" panose="020F0302020204030204" pitchFamily="34" charset="0"/>
                <a:cs typeface="Times New Roman" panose="02020603050405020304" pitchFamily="18" charset="0"/>
              </a:rPr>
              <a:t>Committed Outcome</a:t>
            </a:r>
            <a:endParaRPr lang="en-IN" b="1" dirty="0">
              <a:solidFill>
                <a:srgbClr val="FF0000"/>
              </a:solidFill>
            </a:endParaRPr>
          </a:p>
        </p:txBody>
      </p:sp>
      <p:graphicFrame>
        <p:nvGraphicFramePr>
          <p:cNvPr id="4" name="Content Placeholder 3">
            <a:extLst>
              <a:ext uri="{FF2B5EF4-FFF2-40B4-BE49-F238E27FC236}">
                <a16:creationId xmlns:a16="http://schemas.microsoft.com/office/drawing/2014/main" id="{DEBBBE27-698F-E507-8D81-3C7BBF7485A9}"/>
              </a:ext>
            </a:extLst>
          </p:cNvPr>
          <p:cNvGraphicFramePr>
            <a:graphicFrameLocks noGrp="1"/>
          </p:cNvGraphicFramePr>
          <p:nvPr>
            <p:ph idx="1"/>
            <p:extLst>
              <p:ext uri="{D42A27DB-BD31-4B8C-83A1-F6EECF244321}">
                <p14:modId xmlns:p14="http://schemas.microsoft.com/office/powerpoint/2010/main" val="2828235691"/>
              </p:ext>
            </p:extLst>
          </p:nvPr>
        </p:nvGraphicFramePr>
        <p:xfrm>
          <a:off x="371856" y="1627632"/>
          <a:ext cx="11524488" cy="3941062"/>
        </p:xfrm>
        <a:graphic>
          <a:graphicData uri="http://schemas.openxmlformats.org/drawingml/2006/table">
            <a:tbl>
              <a:tblPr firstRow="1" bandRow="1">
                <a:tableStyleId>{5940675A-B579-460E-94D1-54222C63F5DA}</a:tableStyleId>
              </a:tblPr>
              <a:tblGrid>
                <a:gridCol w="4822993">
                  <a:extLst>
                    <a:ext uri="{9D8B030D-6E8A-4147-A177-3AD203B41FA5}">
                      <a16:colId xmlns:a16="http://schemas.microsoft.com/office/drawing/2014/main" val="857918095"/>
                    </a:ext>
                  </a:extLst>
                </a:gridCol>
                <a:gridCol w="6701495">
                  <a:extLst>
                    <a:ext uri="{9D8B030D-6E8A-4147-A177-3AD203B41FA5}">
                      <a16:colId xmlns:a16="http://schemas.microsoft.com/office/drawing/2014/main" val="837459113"/>
                    </a:ext>
                  </a:extLst>
                </a:gridCol>
              </a:tblGrid>
              <a:tr h="547517">
                <a:tc>
                  <a:txBody>
                    <a:bodyPr/>
                    <a:lstStyle/>
                    <a:p>
                      <a:pPr marL="13335" algn="ctr">
                        <a:spcBef>
                          <a:spcPts val="270"/>
                        </a:spcBef>
                        <a:buNone/>
                      </a:pPr>
                      <a:r>
                        <a:rPr lang="en-US" sz="2400" b="1" spc="-10" dirty="0">
                          <a:solidFill>
                            <a:schemeClr val="tx1"/>
                          </a:solidFill>
                          <a:effectLst/>
                          <a:latin typeface="Times New Roman" panose="02020603050405020304" pitchFamily="18" charset="0"/>
                          <a:cs typeface="Times New Roman" panose="02020603050405020304" pitchFamily="18" charset="0"/>
                        </a:rPr>
                        <a:t>Category</a:t>
                      </a:r>
                      <a:endParaRPr lang="en-IN" sz="11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587500" marR="502920" indent="-1071880" algn="ctr">
                        <a:lnSpc>
                          <a:spcPct val="97000"/>
                        </a:lnSpc>
                        <a:spcBef>
                          <a:spcPts val="315"/>
                        </a:spcBef>
                        <a:buNone/>
                      </a:pPr>
                      <a:r>
                        <a:rPr lang="en-US" sz="2400" b="1" dirty="0">
                          <a:solidFill>
                            <a:schemeClr val="tx1"/>
                          </a:solidFill>
                          <a:effectLst/>
                          <a:latin typeface="Times New Roman" panose="02020603050405020304" pitchFamily="18" charset="0"/>
                          <a:cs typeface="Times New Roman" panose="02020603050405020304" pitchFamily="18" charset="0"/>
                        </a:rPr>
                        <a:t>Project</a:t>
                      </a:r>
                      <a:r>
                        <a:rPr lang="en-US" sz="2400" b="1" spc="-140" dirty="0">
                          <a:solidFill>
                            <a:schemeClr val="tx1"/>
                          </a:solidFill>
                          <a:effectLst/>
                          <a:latin typeface="Times New Roman" panose="02020603050405020304" pitchFamily="18" charset="0"/>
                          <a:cs typeface="Times New Roman" panose="02020603050405020304" pitchFamily="18" charset="0"/>
                        </a:rPr>
                        <a:t> </a:t>
                      </a:r>
                      <a:r>
                        <a:rPr lang="en-US" sz="2400" b="1" dirty="0">
                          <a:solidFill>
                            <a:schemeClr val="tx1"/>
                          </a:solidFill>
                          <a:effectLst/>
                          <a:latin typeface="Times New Roman" panose="02020603050405020304" pitchFamily="18" charset="0"/>
                          <a:cs typeface="Times New Roman" panose="02020603050405020304" pitchFamily="18" charset="0"/>
                        </a:rPr>
                        <a:t>Research</a:t>
                      </a:r>
                      <a:r>
                        <a:rPr lang="en-US" sz="2400" b="1" spc="-135" dirty="0">
                          <a:solidFill>
                            <a:schemeClr val="tx1"/>
                          </a:solidFill>
                          <a:effectLst/>
                          <a:latin typeface="Times New Roman" panose="02020603050405020304" pitchFamily="18" charset="0"/>
                          <a:cs typeface="Times New Roman" panose="02020603050405020304" pitchFamily="18" charset="0"/>
                        </a:rPr>
                        <a:t> </a:t>
                      </a:r>
                      <a:r>
                        <a:rPr lang="en-US" sz="2400" b="1" dirty="0">
                          <a:solidFill>
                            <a:schemeClr val="tx1"/>
                          </a:solidFill>
                          <a:effectLst/>
                          <a:latin typeface="Times New Roman" panose="02020603050405020304" pitchFamily="18" charset="0"/>
                          <a:cs typeface="Times New Roman" panose="02020603050405020304" pitchFamily="18" charset="0"/>
                        </a:rPr>
                        <a:t>Outcome (any one)</a:t>
                      </a:r>
                      <a:endParaRPr lang="en-IN" sz="11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31304427"/>
                  </a:ext>
                </a:extLst>
              </a:tr>
              <a:tr h="678709">
                <a:tc>
                  <a:txBody>
                    <a:bodyPr/>
                    <a:lstStyle/>
                    <a:p>
                      <a:pPr marL="91440" algn="l">
                        <a:spcBef>
                          <a:spcPts val="175"/>
                        </a:spcBef>
                        <a:buNone/>
                      </a:pPr>
                      <a:r>
                        <a:rPr lang="en-US" sz="2400" dirty="0">
                          <a:solidFill>
                            <a:schemeClr val="tx1"/>
                          </a:solidFill>
                          <a:effectLst/>
                          <a:latin typeface="Times New Roman" panose="02020603050405020304" pitchFamily="18" charset="0"/>
                          <a:cs typeface="Times New Roman" panose="02020603050405020304" pitchFamily="18" charset="0"/>
                        </a:rPr>
                        <a:t>Indexed</a:t>
                      </a:r>
                      <a:r>
                        <a:rPr lang="en-US" sz="2400" spc="-65" dirty="0">
                          <a:solidFill>
                            <a:schemeClr val="tx1"/>
                          </a:solidFill>
                          <a:effectLst/>
                          <a:latin typeface="Times New Roman" panose="02020603050405020304" pitchFamily="18" charset="0"/>
                          <a:cs typeface="Times New Roman" panose="02020603050405020304" pitchFamily="18" charset="0"/>
                        </a:rPr>
                        <a:t> </a:t>
                      </a:r>
                      <a:r>
                        <a:rPr lang="en-US" sz="2400" dirty="0">
                          <a:solidFill>
                            <a:schemeClr val="tx1"/>
                          </a:solidFill>
                          <a:effectLst/>
                          <a:latin typeface="Times New Roman" panose="02020603050405020304" pitchFamily="18" charset="0"/>
                          <a:cs typeface="Times New Roman" panose="02020603050405020304" pitchFamily="18" charset="0"/>
                        </a:rPr>
                        <a:t>International</a:t>
                      </a:r>
                      <a:r>
                        <a:rPr lang="en-US" sz="2400" spc="130" dirty="0">
                          <a:solidFill>
                            <a:schemeClr val="tx1"/>
                          </a:solidFill>
                          <a:effectLst/>
                          <a:latin typeface="Times New Roman" panose="02020603050405020304" pitchFamily="18" charset="0"/>
                          <a:cs typeface="Times New Roman" panose="02020603050405020304" pitchFamily="18" charset="0"/>
                        </a:rPr>
                        <a:t> </a:t>
                      </a:r>
                      <a:r>
                        <a:rPr lang="en-US" sz="2400" spc="-10" dirty="0">
                          <a:solidFill>
                            <a:schemeClr val="tx1"/>
                          </a:solidFill>
                          <a:effectLst/>
                          <a:latin typeface="Times New Roman" panose="02020603050405020304" pitchFamily="18" charset="0"/>
                          <a:cs typeface="Times New Roman" panose="02020603050405020304" pitchFamily="18" charset="0"/>
                        </a:rPr>
                        <a:t>Conference</a:t>
                      </a:r>
                      <a:endParaRPr lang="en-IN"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2200" dirty="0">
                          <a:solidFill>
                            <a:schemeClr val="tx1"/>
                          </a:solidFill>
                          <a:effectLst/>
                          <a:latin typeface="Times New Roman" panose="02020603050405020304" pitchFamily="18" charset="0"/>
                          <a:cs typeface="Times New Roman" panose="02020603050405020304" pitchFamily="18" charset="0"/>
                        </a:rPr>
                        <a:t> </a:t>
                      </a:r>
                      <a:r>
                        <a:rPr lang="en-IN" sz="1800" b="0" i="0" kern="1200" dirty="0">
                          <a:solidFill>
                            <a:schemeClr val="tx1"/>
                          </a:solidFill>
                          <a:effectLst/>
                          <a:latin typeface="Times New Roman" panose="02020603050405020304" pitchFamily="18" charset="0"/>
                          <a:ea typeface="+mn-ea"/>
                          <a:cs typeface="Times New Roman" panose="02020603050405020304" pitchFamily="18" charset="0"/>
                        </a:rPr>
                        <a:t>✓</a:t>
                      </a:r>
                      <a:endParaRPr lang="en-IN"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3013452683"/>
                  </a:ext>
                </a:extLst>
              </a:tr>
              <a:tr h="678709">
                <a:tc>
                  <a:txBody>
                    <a:bodyPr/>
                    <a:lstStyle/>
                    <a:p>
                      <a:pPr marL="91440" algn="l">
                        <a:spcBef>
                          <a:spcPts val="275"/>
                        </a:spcBef>
                        <a:buNone/>
                      </a:pPr>
                      <a:r>
                        <a:rPr lang="en-US" sz="2400" dirty="0">
                          <a:solidFill>
                            <a:schemeClr val="tx1"/>
                          </a:solidFill>
                          <a:effectLst/>
                          <a:latin typeface="Times New Roman" panose="02020603050405020304" pitchFamily="18" charset="0"/>
                          <a:cs typeface="Times New Roman" panose="02020603050405020304" pitchFamily="18" charset="0"/>
                        </a:rPr>
                        <a:t>Indexed</a:t>
                      </a:r>
                      <a:r>
                        <a:rPr lang="en-US" sz="2400" spc="-60" dirty="0">
                          <a:solidFill>
                            <a:schemeClr val="tx1"/>
                          </a:solidFill>
                          <a:effectLst/>
                          <a:latin typeface="Times New Roman" panose="02020603050405020304" pitchFamily="18" charset="0"/>
                          <a:cs typeface="Times New Roman" panose="02020603050405020304" pitchFamily="18" charset="0"/>
                        </a:rPr>
                        <a:t> </a:t>
                      </a:r>
                      <a:r>
                        <a:rPr lang="en-US" sz="2400" dirty="0">
                          <a:solidFill>
                            <a:schemeClr val="tx1"/>
                          </a:solidFill>
                          <a:effectLst/>
                          <a:latin typeface="Times New Roman" panose="02020603050405020304" pitchFamily="18" charset="0"/>
                          <a:cs typeface="Times New Roman" panose="02020603050405020304" pitchFamily="18" charset="0"/>
                        </a:rPr>
                        <a:t>Book</a:t>
                      </a:r>
                      <a:r>
                        <a:rPr lang="en-US" sz="2400" spc="-65" dirty="0">
                          <a:solidFill>
                            <a:schemeClr val="tx1"/>
                          </a:solidFill>
                          <a:effectLst/>
                          <a:latin typeface="Times New Roman" panose="02020603050405020304" pitchFamily="18" charset="0"/>
                          <a:cs typeface="Times New Roman" panose="02020603050405020304" pitchFamily="18" charset="0"/>
                        </a:rPr>
                        <a:t> </a:t>
                      </a:r>
                      <a:r>
                        <a:rPr lang="en-US" sz="2400" spc="-10" dirty="0">
                          <a:solidFill>
                            <a:schemeClr val="tx1"/>
                          </a:solidFill>
                          <a:effectLst/>
                          <a:latin typeface="Times New Roman" panose="02020603050405020304" pitchFamily="18" charset="0"/>
                          <a:cs typeface="Times New Roman" panose="02020603050405020304" pitchFamily="18" charset="0"/>
                        </a:rPr>
                        <a:t>chapter</a:t>
                      </a:r>
                      <a:endParaRPr lang="en-IN"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2200" dirty="0">
                          <a:solidFill>
                            <a:schemeClr val="tx1"/>
                          </a:solidFill>
                          <a:effectLst/>
                          <a:latin typeface="Times New Roman" panose="02020603050405020304" pitchFamily="18" charset="0"/>
                          <a:cs typeface="Times New Roman" panose="02020603050405020304" pitchFamily="18" charset="0"/>
                        </a:rPr>
                        <a:t> -</a:t>
                      </a:r>
                      <a:endParaRPr lang="en-IN"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1539429291"/>
                  </a:ext>
                </a:extLst>
              </a:tr>
              <a:tr h="678709">
                <a:tc>
                  <a:txBody>
                    <a:bodyPr/>
                    <a:lstStyle/>
                    <a:p>
                      <a:pPr marL="91440" algn="l">
                        <a:spcBef>
                          <a:spcPts val="275"/>
                        </a:spcBef>
                        <a:buNone/>
                      </a:pPr>
                      <a:r>
                        <a:rPr lang="en-US" sz="2400" dirty="0">
                          <a:solidFill>
                            <a:schemeClr val="tx1"/>
                          </a:solidFill>
                          <a:effectLst/>
                          <a:latin typeface="Times New Roman" panose="02020603050405020304" pitchFamily="18" charset="0"/>
                          <a:cs typeface="Times New Roman" panose="02020603050405020304" pitchFamily="18" charset="0"/>
                        </a:rPr>
                        <a:t>Indexed</a:t>
                      </a:r>
                      <a:r>
                        <a:rPr lang="en-US" sz="2400" spc="-60" dirty="0">
                          <a:solidFill>
                            <a:schemeClr val="tx1"/>
                          </a:solidFill>
                          <a:effectLst/>
                          <a:latin typeface="Times New Roman" panose="02020603050405020304" pitchFamily="18" charset="0"/>
                          <a:cs typeface="Times New Roman" panose="02020603050405020304" pitchFamily="18" charset="0"/>
                        </a:rPr>
                        <a:t> </a:t>
                      </a:r>
                      <a:r>
                        <a:rPr lang="en-US" sz="2400" dirty="0">
                          <a:solidFill>
                            <a:schemeClr val="tx1"/>
                          </a:solidFill>
                          <a:effectLst/>
                          <a:latin typeface="Times New Roman" panose="02020603050405020304" pitchFamily="18" charset="0"/>
                          <a:cs typeface="Times New Roman" panose="02020603050405020304" pitchFamily="18" charset="0"/>
                        </a:rPr>
                        <a:t>Journal</a:t>
                      </a:r>
                      <a:r>
                        <a:rPr lang="en-US" sz="2400" spc="-55" dirty="0">
                          <a:solidFill>
                            <a:schemeClr val="tx1"/>
                          </a:solidFill>
                          <a:effectLst/>
                          <a:latin typeface="Times New Roman" panose="02020603050405020304" pitchFamily="18" charset="0"/>
                          <a:cs typeface="Times New Roman" panose="02020603050405020304" pitchFamily="18" charset="0"/>
                        </a:rPr>
                        <a:t> </a:t>
                      </a:r>
                      <a:r>
                        <a:rPr lang="en-US" sz="2400" spc="-10" dirty="0">
                          <a:solidFill>
                            <a:schemeClr val="tx1"/>
                          </a:solidFill>
                          <a:effectLst/>
                          <a:latin typeface="Times New Roman" panose="02020603050405020304" pitchFamily="18" charset="0"/>
                          <a:cs typeface="Times New Roman" panose="02020603050405020304" pitchFamily="18" charset="0"/>
                        </a:rPr>
                        <a:t>publication</a:t>
                      </a:r>
                      <a:endParaRPr lang="en-IN"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2200" dirty="0">
                          <a:solidFill>
                            <a:schemeClr val="tx1"/>
                          </a:solidFill>
                          <a:effectLst/>
                          <a:latin typeface="Times New Roman" panose="02020603050405020304" pitchFamily="18" charset="0"/>
                          <a:cs typeface="Times New Roman" panose="02020603050405020304" pitchFamily="18" charset="0"/>
                        </a:rPr>
                        <a:t> -</a:t>
                      </a:r>
                      <a:endParaRPr lang="en-IN"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483251364"/>
                  </a:ext>
                </a:extLst>
              </a:tr>
              <a:tr h="678709">
                <a:tc>
                  <a:txBody>
                    <a:bodyPr/>
                    <a:lstStyle/>
                    <a:p>
                      <a:pPr marL="91440" algn="l">
                        <a:spcBef>
                          <a:spcPts val="275"/>
                        </a:spcBef>
                        <a:buNone/>
                      </a:pPr>
                      <a:r>
                        <a:rPr lang="en-US" sz="2400" spc="-10" dirty="0">
                          <a:solidFill>
                            <a:schemeClr val="tx1"/>
                          </a:solidFill>
                          <a:effectLst/>
                          <a:latin typeface="Times New Roman" panose="02020603050405020304" pitchFamily="18" charset="0"/>
                          <a:cs typeface="Times New Roman" panose="02020603050405020304" pitchFamily="18" charset="0"/>
                        </a:rPr>
                        <a:t>Patent</a:t>
                      </a:r>
                      <a:r>
                        <a:rPr lang="en-US" sz="2400" spc="-95" dirty="0">
                          <a:solidFill>
                            <a:schemeClr val="tx1"/>
                          </a:solidFill>
                          <a:effectLst/>
                          <a:latin typeface="Times New Roman" panose="02020603050405020304" pitchFamily="18" charset="0"/>
                          <a:cs typeface="Times New Roman" panose="02020603050405020304" pitchFamily="18" charset="0"/>
                        </a:rPr>
                        <a:t> </a:t>
                      </a:r>
                      <a:r>
                        <a:rPr lang="en-US" sz="2400" spc="-10" dirty="0">
                          <a:solidFill>
                            <a:schemeClr val="tx1"/>
                          </a:solidFill>
                          <a:effectLst/>
                          <a:latin typeface="Times New Roman" panose="02020603050405020304" pitchFamily="18" charset="0"/>
                          <a:cs typeface="Times New Roman" panose="02020603050405020304" pitchFamily="18" charset="0"/>
                        </a:rPr>
                        <a:t>Filing</a:t>
                      </a:r>
                      <a:endParaRPr lang="en-IN"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2200" dirty="0">
                          <a:solidFill>
                            <a:schemeClr val="tx1"/>
                          </a:solidFill>
                          <a:effectLst/>
                          <a:latin typeface="Times New Roman" panose="02020603050405020304" pitchFamily="18" charset="0"/>
                          <a:cs typeface="Times New Roman" panose="02020603050405020304" pitchFamily="18" charset="0"/>
                        </a:rPr>
                        <a:t> -</a:t>
                      </a:r>
                      <a:endParaRPr lang="en-IN"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541334974"/>
                  </a:ext>
                </a:extLst>
              </a:tr>
              <a:tr h="678709">
                <a:tc>
                  <a:txBody>
                    <a:bodyPr/>
                    <a:lstStyle/>
                    <a:p>
                      <a:pPr marL="91440" algn="l">
                        <a:spcBef>
                          <a:spcPts val="275"/>
                        </a:spcBef>
                        <a:buNone/>
                      </a:pPr>
                      <a:r>
                        <a:rPr lang="en-US" sz="2400" spc="-10" dirty="0">
                          <a:solidFill>
                            <a:schemeClr val="tx1"/>
                          </a:solidFill>
                          <a:effectLst/>
                          <a:latin typeface="Times New Roman" panose="02020603050405020304" pitchFamily="18" charset="0"/>
                          <a:cs typeface="Times New Roman" panose="02020603050405020304" pitchFamily="18" charset="0"/>
                        </a:rPr>
                        <a:t>Patent</a:t>
                      </a:r>
                      <a:r>
                        <a:rPr lang="en-US" sz="2400" spc="-100" dirty="0">
                          <a:solidFill>
                            <a:schemeClr val="tx1"/>
                          </a:solidFill>
                          <a:effectLst/>
                          <a:latin typeface="Times New Roman" panose="02020603050405020304" pitchFamily="18" charset="0"/>
                          <a:cs typeface="Times New Roman" panose="02020603050405020304" pitchFamily="18" charset="0"/>
                        </a:rPr>
                        <a:t> </a:t>
                      </a:r>
                      <a:r>
                        <a:rPr lang="en-US" sz="2400" spc="-20" dirty="0">
                          <a:solidFill>
                            <a:schemeClr val="tx1"/>
                          </a:solidFill>
                          <a:effectLst/>
                          <a:latin typeface="Times New Roman" panose="02020603050405020304" pitchFamily="18" charset="0"/>
                          <a:cs typeface="Times New Roman" panose="02020603050405020304" pitchFamily="18" charset="0"/>
                        </a:rPr>
                        <a:t>Grant</a:t>
                      </a:r>
                      <a:endParaRPr lang="en-IN"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tc>
                  <a:txBody>
                    <a:bodyPr/>
                    <a:lstStyle/>
                    <a:p>
                      <a:pPr algn="ctr">
                        <a:buNone/>
                      </a:pPr>
                      <a:r>
                        <a:rPr lang="en-US" sz="2200" dirty="0">
                          <a:solidFill>
                            <a:schemeClr val="tx1"/>
                          </a:solidFill>
                          <a:effectLst/>
                          <a:latin typeface="Times New Roman" panose="02020603050405020304" pitchFamily="18" charset="0"/>
                          <a:cs typeface="Times New Roman" panose="02020603050405020304" pitchFamily="18" charset="0"/>
                        </a:rPr>
                        <a:t> -</a:t>
                      </a:r>
                      <a:endParaRPr lang="en-IN" sz="11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nchor="ctr"/>
                </a:tc>
                <a:extLst>
                  <a:ext uri="{0D108BD9-81ED-4DB2-BD59-A6C34878D82A}">
                    <a16:rowId xmlns:a16="http://schemas.microsoft.com/office/drawing/2014/main" val="2711966853"/>
                  </a:ext>
                </a:extLst>
              </a:tr>
            </a:tbl>
          </a:graphicData>
        </a:graphic>
      </p:graphicFrame>
      <p:sp>
        <p:nvSpPr>
          <p:cNvPr id="5" name="Footer Placeholder 4">
            <a:extLst>
              <a:ext uri="{FF2B5EF4-FFF2-40B4-BE49-F238E27FC236}">
                <a16:creationId xmlns:a16="http://schemas.microsoft.com/office/drawing/2014/main" id="{CC7E8615-351C-BECB-1075-1CCAC3CE3CBB}"/>
              </a:ext>
            </a:extLst>
          </p:cNvPr>
          <p:cNvSpPr>
            <a:spLocks noGrp="1"/>
          </p:cNvSpPr>
          <p:nvPr>
            <p:ph type="ftr" sz="quarter" idx="11"/>
          </p:nvPr>
        </p:nvSpPr>
        <p:spPr>
          <a:xfrm>
            <a:off x="3822192" y="6356350"/>
            <a:ext cx="4331208" cy="444853"/>
          </a:xfrm>
        </p:spPr>
        <p:txBody>
          <a:bodyPr/>
          <a:lstStyle/>
          <a:p>
            <a:r>
              <a:rPr lang="en-US" dirty="0" err="1"/>
              <a:t>EduSphere</a:t>
            </a:r>
            <a:r>
              <a:rPr lang="en-US" dirty="0"/>
              <a:t>:  AI-Powered Student Lifecycle Management Ecosystem</a:t>
            </a:r>
            <a:endParaRPr lang="en-IN" dirty="0"/>
          </a:p>
        </p:txBody>
      </p:sp>
    </p:spTree>
    <p:extLst>
      <p:ext uri="{BB962C8B-B14F-4D97-AF65-F5344CB8AC3E}">
        <p14:creationId xmlns:p14="http://schemas.microsoft.com/office/powerpoint/2010/main" val="1407699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6296"/>
            <a:ext cx="10515600" cy="1325563"/>
          </a:xfrm>
        </p:spPr>
        <p:txBody>
          <a:bodyPr/>
          <a:lstStyle/>
          <a:p>
            <a:pPr algn="ctr"/>
            <a:r>
              <a:rPr lang="en-US"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REFERENCES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8016" y="1290918"/>
            <a:ext cx="12063984" cy="4886045"/>
          </a:xfrm>
        </p:spPr>
        <p:txBody>
          <a:bodyPr>
            <a:normAutofit/>
          </a:bodyPr>
          <a:lstStyle/>
          <a:p>
            <a:pPr marL="457200" indent="-457200">
              <a:lnSpc>
                <a:spcPct val="150000"/>
              </a:lnSpc>
              <a:buFont typeface="+mj-lt"/>
              <a:buAutoNum type="arabicPeriod"/>
            </a:pPr>
            <a:r>
              <a:rPr lang="en-IN" sz="2400" dirty="0">
                <a:latin typeface="Times New Roman" panose="02020603050405020304" pitchFamily="18" charset="0"/>
                <a:cs typeface="Times New Roman" panose="02020603050405020304" pitchFamily="18" charset="0"/>
              </a:rPr>
              <a:t>A. Abu-</a:t>
            </a:r>
            <a:r>
              <a:rPr lang="en-IN" sz="2400" dirty="0" err="1">
                <a:latin typeface="Times New Roman" panose="02020603050405020304" pitchFamily="18" charset="0"/>
                <a:cs typeface="Times New Roman" panose="02020603050405020304" pitchFamily="18" charset="0"/>
              </a:rPr>
              <a:t>Issa</a:t>
            </a:r>
            <a:r>
              <a:rPr lang="en-IN" sz="2400" dirty="0">
                <a:latin typeface="Times New Roman" panose="02020603050405020304" pitchFamily="18" charset="0"/>
                <a:cs typeface="Times New Roman" panose="02020603050405020304" pitchFamily="18" charset="0"/>
              </a:rPr>
              <a:t> et al., “Empowering Student Learning in Intelligent Tutoring Systems,” IEEE, 2025.</a:t>
            </a:r>
          </a:p>
          <a:p>
            <a:pPr marL="457200" indent="-457200">
              <a:lnSpc>
                <a:spcPct val="150000"/>
              </a:lnSpc>
              <a:buFont typeface="+mj-lt"/>
              <a:buAutoNum type="arabicPeriod"/>
            </a:pPr>
            <a:r>
              <a:rPr lang="en-IN" sz="2400" dirty="0">
                <a:latin typeface="Times New Roman" panose="02020603050405020304" pitchFamily="18" charset="0"/>
                <a:cs typeface="Times New Roman" panose="02020603050405020304" pitchFamily="18" charset="0"/>
              </a:rPr>
              <a:t>R. M. M. F. Luis et al., “Enhancing learners’ experience in e-learning based Intelligent Tutoring System,” IEEE, 2017.</a:t>
            </a:r>
          </a:p>
          <a:p>
            <a:pPr marL="457200" indent="-457200">
              <a:lnSpc>
                <a:spcPct val="150000"/>
              </a:lnSpc>
              <a:buFont typeface="+mj-lt"/>
              <a:buAutoNum type="arabicPeriod"/>
            </a:pPr>
            <a:r>
              <a:rPr lang="en-IN" sz="2400" dirty="0">
                <a:latin typeface="Times New Roman" panose="02020603050405020304" pitchFamily="18" charset="0"/>
                <a:cs typeface="Times New Roman" panose="02020603050405020304" pitchFamily="18" charset="0"/>
              </a:rPr>
              <a:t>D. </a:t>
            </a:r>
            <a:r>
              <a:rPr lang="en-IN" sz="2400" dirty="0" err="1">
                <a:latin typeface="Times New Roman" panose="02020603050405020304" pitchFamily="18" charset="0"/>
                <a:cs typeface="Times New Roman" panose="02020603050405020304" pitchFamily="18" charset="0"/>
              </a:rPr>
              <a:t>Bañeres</a:t>
            </a:r>
            <a:r>
              <a:rPr lang="en-IN" sz="2400" dirty="0">
                <a:latin typeface="Times New Roman" panose="02020603050405020304" pitchFamily="18" charset="0"/>
                <a:cs typeface="Times New Roman" panose="02020603050405020304" pitchFamily="18" charset="0"/>
              </a:rPr>
              <a:t> et al., “Towards a Learning Analytics Support for Intelligent Tutoring Systems,” IEEE, 2016.</a:t>
            </a:r>
          </a:p>
          <a:p>
            <a:pPr marL="457200" indent="-457200">
              <a:lnSpc>
                <a:spcPct val="150000"/>
              </a:lnSpc>
              <a:buFont typeface="+mj-lt"/>
              <a:buAutoNum type="arabicPeriod"/>
            </a:pPr>
            <a:r>
              <a:rPr lang="en-IN" sz="2400" dirty="0">
                <a:latin typeface="Times New Roman" panose="02020603050405020304" pitchFamily="18" charset="0"/>
                <a:cs typeface="Times New Roman" panose="02020603050405020304" pitchFamily="18" charset="0"/>
              </a:rPr>
              <a:t>C. </a:t>
            </a:r>
            <a:r>
              <a:rPr lang="en-IN" sz="2400" dirty="0" err="1">
                <a:latin typeface="Times New Roman" panose="02020603050405020304" pitchFamily="18" charset="0"/>
                <a:cs typeface="Times New Roman" panose="02020603050405020304" pitchFamily="18" charset="0"/>
              </a:rPr>
              <a:t>Schatten</a:t>
            </a:r>
            <a:r>
              <a:rPr lang="en-IN" sz="2400" dirty="0">
                <a:latin typeface="Times New Roman" panose="02020603050405020304" pitchFamily="18" charset="0"/>
                <a:cs typeface="Times New Roman" panose="02020603050405020304" pitchFamily="18" charset="0"/>
              </a:rPr>
              <a:t> et al., “Minimal Invasive Integration of Learning Analytics Services in Intelligent Tutoring Systems,” IEEE, 2014.</a:t>
            </a:r>
          </a:p>
          <a:p>
            <a:pPr marL="457200" indent="-457200">
              <a:lnSpc>
                <a:spcPct val="150000"/>
              </a:lnSpc>
              <a:buFont typeface="+mj-lt"/>
              <a:buAutoNum type="arabicPeriod"/>
            </a:pPr>
            <a:endParaRPr lang="en-IN" sz="2400" dirty="0">
              <a:latin typeface="Times New Roman" panose="02020603050405020304" pitchFamily="18" charset="0"/>
              <a:cs typeface="Times New Roman" panose="02020603050405020304" pitchFamily="18" charset="0"/>
            </a:endParaRPr>
          </a:p>
          <a:p>
            <a:pPr marL="457200" indent="-457200">
              <a:lnSpc>
                <a:spcPct val="150000"/>
              </a:lnSpc>
              <a:buFont typeface="+mj-lt"/>
              <a:buAutoNum type="arabicPeriod"/>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5A1E036-EE4A-6FE5-A696-A355BE3DDB06}"/>
              </a:ext>
            </a:extLst>
          </p:cNvPr>
          <p:cNvSpPr>
            <a:spLocks noGrp="1"/>
          </p:cNvSpPr>
          <p:nvPr>
            <p:ph type="ftr" sz="quarter" idx="11"/>
          </p:nvPr>
        </p:nvSpPr>
        <p:spPr>
          <a:xfrm>
            <a:off x="3767328" y="6356350"/>
            <a:ext cx="4386072" cy="410210"/>
          </a:xfrm>
        </p:spPr>
        <p:txBody>
          <a:bodyPr/>
          <a:lstStyle/>
          <a:p>
            <a:r>
              <a:rPr lang="en-US" dirty="0" err="1"/>
              <a:t>EduSphere</a:t>
            </a:r>
            <a:r>
              <a:rPr lang="en-US" dirty="0"/>
              <a:t>:  AI-Powered Student Lifecycle Management Ecosystem</a:t>
            </a:r>
            <a:endParaRPr lang="en-IN" dirty="0"/>
          </a:p>
        </p:txBody>
      </p:sp>
    </p:spTree>
    <p:extLst>
      <p:ext uri="{BB962C8B-B14F-4D97-AF65-F5344CB8AC3E}">
        <p14:creationId xmlns:p14="http://schemas.microsoft.com/office/powerpoint/2010/main" val="13952287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27" descr="Bouquet-of-roses">
            <a:extLst>
              <a:ext uri="{FF2B5EF4-FFF2-40B4-BE49-F238E27FC236}">
                <a16:creationId xmlns:a16="http://schemas.microsoft.com/office/drawing/2014/main" id="{BE6FFBEB-5628-C020-E5FE-5A9BEEAAC825}"/>
              </a:ext>
            </a:extLst>
          </p:cNvPr>
          <p:cNvPicPr>
            <a:picLocks noGrp="1"/>
          </p:cNvPicPr>
          <p:nvPr>
            <p:ph idx="1"/>
          </p:nvPr>
        </p:nvPicPr>
        <p:blipFill>
          <a:blip r:embed="rId2" cstate="print"/>
          <a:stretch>
            <a:fillRect/>
          </a:stretch>
        </p:blipFill>
        <p:spPr>
          <a:xfrm>
            <a:off x="4762500" y="1605756"/>
            <a:ext cx="2476500" cy="2905125"/>
          </a:xfrm>
          <a:prstGeom prst="rect">
            <a:avLst/>
          </a:prstGeom>
        </p:spPr>
      </p:pic>
      <p:sp>
        <p:nvSpPr>
          <p:cNvPr id="8" name="TextBox 7">
            <a:extLst>
              <a:ext uri="{FF2B5EF4-FFF2-40B4-BE49-F238E27FC236}">
                <a16:creationId xmlns:a16="http://schemas.microsoft.com/office/drawing/2014/main" id="{24B4FA59-93B6-9991-0F05-96CC79C5BE8C}"/>
              </a:ext>
            </a:extLst>
          </p:cNvPr>
          <p:cNvSpPr txBox="1"/>
          <p:nvPr/>
        </p:nvSpPr>
        <p:spPr>
          <a:xfrm>
            <a:off x="2545940" y="4715211"/>
            <a:ext cx="6096000" cy="1015663"/>
          </a:xfrm>
          <a:prstGeom prst="rect">
            <a:avLst/>
          </a:prstGeom>
          <a:noFill/>
        </p:spPr>
        <p:txBody>
          <a:bodyPr wrap="square">
            <a:spAutoFit/>
          </a:bodyPr>
          <a:lstStyle/>
          <a:p>
            <a:pPr marL="888365" algn="ctr">
              <a:spcBef>
                <a:spcPts val="680"/>
              </a:spcBef>
              <a:buNone/>
            </a:pPr>
            <a:r>
              <a:rPr lang="en-US" sz="6000" dirty="0">
                <a:solidFill>
                  <a:srgbClr val="FF0000"/>
                </a:solidFill>
                <a:effectLst/>
                <a:latin typeface="Times New Roman" panose="02020603050405020304" pitchFamily="18" charset="0"/>
                <a:ea typeface="Times New Roman" panose="02020603050405020304" pitchFamily="18" charset="0"/>
              </a:rPr>
              <a:t>Thank</a:t>
            </a:r>
            <a:r>
              <a:rPr lang="en-US" sz="6000" spc="-230" dirty="0">
                <a:solidFill>
                  <a:srgbClr val="FF0000"/>
                </a:solidFill>
                <a:effectLst/>
                <a:latin typeface="Times New Roman" panose="02020603050405020304" pitchFamily="18" charset="0"/>
                <a:ea typeface="Times New Roman" panose="02020603050405020304" pitchFamily="18" charset="0"/>
              </a:rPr>
              <a:t> </a:t>
            </a:r>
            <a:r>
              <a:rPr lang="en-US" sz="6000" spc="-430" dirty="0">
                <a:solidFill>
                  <a:srgbClr val="FF0000"/>
                </a:solidFill>
                <a:effectLst/>
                <a:latin typeface="Times New Roman" panose="02020603050405020304" pitchFamily="18" charset="0"/>
                <a:ea typeface="Times New Roman" panose="02020603050405020304" pitchFamily="18" charset="0"/>
              </a:rPr>
              <a:t>Y</a:t>
            </a:r>
            <a:r>
              <a:rPr lang="en-US" sz="6000" spc="175" dirty="0">
                <a:solidFill>
                  <a:srgbClr val="FF0000"/>
                </a:solidFill>
                <a:effectLst/>
                <a:latin typeface="Times New Roman" panose="02020603050405020304" pitchFamily="18" charset="0"/>
                <a:ea typeface="Times New Roman" panose="02020603050405020304" pitchFamily="18" charset="0"/>
              </a:rPr>
              <a:t>ou</a:t>
            </a:r>
            <a:endParaRPr lang="en-IN" sz="1100" dirty="0">
              <a:solidFill>
                <a:srgbClr val="FF0000"/>
              </a:solidFill>
              <a:effectLst/>
              <a:latin typeface="Times New Roman" panose="02020603050405020304" pitchFamily="18" charset="0"/>
              <a:ea typeface="Times New Roman" panose="02020603050405020304" pitchFamily="18" charset="0"/>
            </a:endParaRPr>
          </a:p>
        </p:txBody>
      </p:sp>
      <p:sp>
        <p:nvSpPr>
          <p:cNvPr id="2" name="Footer Placeholder 1">
            <a:extLst>
              <a:ext uri="{FF2B5EF4-FFF2-40B4-BE49-F238E27FC236}">
                <a16:creationId xmlns:a16="http://schemas.microsoft.com/office/drawing/2014/main" id="{8DAA66B0-7EFA-4219-4733-06B6034E6E37}"/>
              </a:ext>
            </a:extLst>
          </p:cNvPr>
          <p:cNvSpPr>
            <a:spLocks noGrp="1"/>
          </p:cNvSpPr>
          <p:nvPr>
            <p:ph type="ftr" sz="quarter" idx="11"/>
          </p:nvPr>
        </p:nvSpPr>
        <p:spPr>
          <a:xfrm>
            <a:off x="3749040" y="6356351"/>
            <a:ext cx="4404360" cy="364490"/>
          </a:xfrm>
        </p:spPr>
        <p:txBody>
          <a:bodyPr/>
          <a:lstStyle/>
          <a:p>
            <a:r>
              <a:rPr lang="en-US"/>
              <a:t>EduSphere:  AI-Powered Student Lifecycle Management Ecosystem</a:t>
            </a:r>
            <a:endParaRPr lang="en-IN"/>
          </a:p>
        </p:txBody>
      </p:sp>
    </p:spTree>
    <p:extLst>
      <p:ext uri="{BB962C8B-B14F-4D97-AF65-F5344CB8AC3E}">
        <p14:creationId xmlns:p14="http://schemas.microsoft.com/office/powerpoint/2010/main" val="35520965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983</TotalTime>
  <Words>1433</Words>
  <Application>Microsoft Office PowerPoint</Application>
  <PresentationFormat>Widescreen</PresentationFormat>
  <Paragraphs>156</Paragraphs>
  <Slides>15</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PowerPoint Presentation</vt:lpstr>
      <vt:lpstr>Contents </vt:lpstr>
      <vt:lpstr>Introduction </vt:lpstr>
      <vt:lpstr>Literature Survey</vt:lpstr>
      <vt:lpstr>Literature Survey</vt:lpstr>
      <vt:lpstr>Problem statement </vt:lpstr>
      <vt:lpstr>Objective of the Project </vt:lpstr>
      <vt:lpstr>Novelty of the work </vt:lpstr>
      <vt:lpstr>Proposed work </vt:lpstr>
      <vt:lpstr>Methodology : Block Diagram  </vt:lpstr>
      <vt:lpstr>Methodology - Tools / technologies to be used </vt:lpstr>
      <vt:lpstr>Methodology : Datasets / Experimental Setup  </vt:lpstr>
      <vt:lpstr>Committed Outcome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 S.DEVILAVANYA (CSE);kabilk2023@gmail.com</dc:creator>
  <cp:lastModifiedBy>Kabil K</cp:lastModifiedBy>
  <cp:revision>37</cp:revision>
  <dcterms:created xsi:type="dcterms:W3CDTF">2026-01-09T14:29:36Z</dcterms:created>
  <dcterms:modified xsi:type="dcterms:W3CDTF">2026-07-21T06:54:21Z</dcterms:modified>
</cp:coreProperties>
</file>